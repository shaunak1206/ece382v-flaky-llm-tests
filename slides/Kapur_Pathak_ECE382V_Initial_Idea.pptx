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dea" id="{9f88e56c-e6d5-fd96-8d4d-7e361eeaf543}">
          <p14:sldIdLst>
            <p14:sldId id="256"/>
            <p14:sldId id="257"/>
            <p14:sldId id="258"/>
            <p14:sldId id="259"/>
          </p14:sldIdLst>
        </p14:section>
        <p14:section name="Plan" id="{c6b0650e-560b-7ef3-155d-8e9039c5e340}">
          <p14:sldIdLst>
            <p14:sldId id="26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we are Shaunak and Manas. Our question is simple. When an LLM writes your unit tests, are those tests flaky? This strip is what a flaky test looks like. Thirty runs, twenty nine pass, one fails, with no code change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Tools like TestPilot, and most Copilot style setups, generate a test, run it once, and keep it if it passes. The problem is that a flaky test can pass that one run. The big flaky test studies, like Luo et al. and the Python study by Gruber et al., look at tests written by people, so we want to measure this for LLM written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looking at a set of small Python libraries. Some are plain utility libraries and some deal with time, randomness, threads, or files, since that is where flaky tests usually come from. For each library we compare the human tests with three LLM setups. One agent that runs its tests and fixes failures, and two one shot setups that never run their tests, one with a bigger model and one with a smaller one. Then we rerun every suite many times while we shuffle the test order and hash seed, switch time zones, and load the CPU.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set up a small pilot on a couple of libraries to see if this is even a real problem, and it already found a few. The best one is a test an LLM wrote that schedules a job until two hours from now, written as a clock time. After 10 PM that clock time is earlier today, so the test fails, but only at night. It passed the single run a pipeline would use to decide whether to keep it. We also saw a test that asserts on a random retry delay and one with a deadline that breaks when the CPU is busy. And human tests are not perfect either. Some only fail in certain orders because an earlier test leaves global state behind. So the pilot says the problem is real, and the full study is about how often it happens and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evaluation we will report the flaky rate of each suite with confidence intervals, label the root cause of every flaky test using the Luo et al. categories, compare risk patterns and coverage, and measure what a one run filter keeps and throws away. The thing we are least sure about is that flips are rare, so we might need a lot of reruns or a slower machine to see real differences. We would love ideas on other perturbations to try. Thanks.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TITL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8046720" cy="118872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548640" y="2560320"/>
            <a:ext cx="8046720" cy="822960"/>
          </a:xfrm>
          <a:prstGeom prst="rect">
            <a:avLst/>
          </a:prstGeom>
          <a:noFill/>
          <a:ln/>
        </p:spPr>
        <p:txBody>
          <a:bodyPr wrap="square" rtlCol="0"/>
          <a:lstStyle>
            <a:lvl1pPr indent="0" marL="0">
              <a:buNone/>
              <a:defRPr lang="en-US" sz="1800" dirty="0">
                <a:solidFill>
                  <a:schemeClr val="accent6"/>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_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indent="0" marL="0">
              <a:buNone/>
              <a:defRPr lang="en-US" sz="3000" b="1" dirty="0">
                <a:solidFill>
                  <a:schemeClr val="tx1"/>
                </a:solidFill>
              </a:defRPr>
            </a:lvl1pPr>
          </a:lstStyle>
          <a:p>
            <a:pPr indent="0" marL="0">
              <a:buNone/>
            </a:pPr>
            <a:endParaRPr lang="en-US" sz="3000" dirty="0"/>
          </a:p>
        </p:txBody>
      </p:sp>
      <p:sp>
        <p:nvSpPr>
          <p:cNvPr id="3" name="Text 0"/>
          <p:cNvSpPr/>
          <p:nvPr/>
        </p:nvSpPr>
        <p:spPr>
          <a:xfrm>
            <a:off x="457200" y="4754880"/>
            <a:ext cx="4572000" cy="274320"/>
          </a:xfrm>
          <a:prstGeom prst="rect">
            <a:avLst/>
          </a:prstGeom>
          <a:noFill/>
          <a:ln/>
        </p:spPr>
        <p:txBody>
          <a:bodyPr wrap="square" lIns="0" tIns="0" rIns="0" bIns="0" rtlCol="0" anchor="ctr"/>
          <a:lstStyle/>
          <a:p>
            <a:pPr indent="0" marL="0">
              <a:buNone/>
            </a:pPr>
            <a:r>
              <a:rPr lang="en-US" sz="1000" dirty="0">
                <a:solidFill>
                  <a:schemeClr val="accent4"/>
                </a:solidFill>
              </a:rPr>
              <a:t>ECE 382V   Initial project idea</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_CONTENT">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indent="0" marL="0">
              <a:buNone/>
              <a:defRPr lang="en-US" sz="3000" b="1" dirty="0">
                <a:solidFill>
                  <a:schemeClr val="bg1"/>
                </a:solidFill>
              </a:defRPr>
            </a:lvl1pPr>
          </a:lstStyle>
          <a:p>
            <a:pPr indent="0" marL="0">
              <a:buNone/>
            </a:pPr>
            <a:endParaRPr lang="en-US" sz="3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slideLayout" Target="../slideLayouts/slideLayout3.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4.xml"/><Relationship Id="rId5"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8046720" cy="1188720"/>
          </a:xfrm>
          <a:prstGeom prst="rect">
            <a:avLst/>
          </a:prstGeom>
          <a:noFill/>
          <a:ln/>
        </p:spPr>
        <p:txBody>
          <a:bodyPr wrap="square" lIns="0" tIns="0" rIns="0" bIns="0" rtlCol="0" anchor="b"/>
          <a:lstStyle/>
          <a:p>
            <a:pPr algn="l" indent="0" marL="0">
              <a:buNone/>
            </a:pPr>
            <a:r>
              <a:rPr lang="en-US" sz="4000" b="1" dirty="0">
                <a:solidFill>
                  <a:schemeClr val="bg1"/>
                </a:solidFill>
              </a:rPr>
              <a:t>Are LLM Written Unit Tests Flaky?</a:t>
            </a:r>
            <a:endParaRPr lang="en-US" sz="4000" dirty="0"/>
          </a:p>
        </p:txBody>
      </p:sp>
      <p:sp>
        <p:nvSpPr>
          <p:cNvPr id="3" name="Text 0"/>
          <p:cNvSpPr/>
          <p:nvPr>
            <p:ph idx="101" type="body" hasCustomPrompt="1"/>
          </p:nvPr>
        </p:nvSpPr>
        <p:spPr>
          <a:xfrm>
            <a:off x="548640" y="2560320"/>
            <a:ext cx="8046720" cy="822960"/>
          </a:xfrm>
          <a:prstGeom prst="rect">
            <a:avLst/>
          </a:prstGeom>
          <a:noFill/>
          <a:ln/>
        </p:spPr>
        <p:txBody>
          <a:bodyPr wrap="square" lIns="0" tIns="0" rIns="0" bIns="0" rtlCol="0" anchor="t"/>
          <a:lstStyle/>
          <a:p>
            <a:pPr indent="0" marL="0">
              <a:buNone/>
            </a:pPr>
            <a:r>
              <a:rPr lang="en-US" sz="1800" dirty="0">
                <a:solidFill>
                  <a:schemeClr val="accent6"/>
                </a:solidFill>
              </a:rPr>
              <a:t>Initial project idea for ECE 382V</a:t>
            </a:r>
            <a:endParaRPr lang="en-US" sz="1800" dirty="0"/>
          </a:p>
          <a:p>
            <a:pPr indent="0" marL="0">
              <a:buNone/>
            </a:pPr>
            <a:r>
              <a:rPr lang="en-US" sz="1400" dirty="0">
                <a:solidFill>
                  <a:schemeClr val="accent4"/>
                </a:solidFill>
              </a:rPr>
              <a:t>Shaunak Kapur and Manas Pathak</a:t>
            </a:r>
            <a:endParaRPr lang="en-US" sz="1800" dirty="0"/>
          </a:p>
        </p:txBody>
      </p:sp>
      <p:sp>
        <p:nvSpPr>
          <p:cNvPr id="4" name="runstrip_0"/>
          <p:cNvSpPr/>
          <p:nvPr/>
        </p:nvSpPr>
        <p:spPr>
          <a:xfrm>
            <a:off x="548640" y="3977640"/>
            <a:ext cx="182880" cy="182880"/>
          </a:xfrm>
          <a:prstGeom prst="roundRect">
            <a:avLst>
              <a:gd name="adj" fmla="val 20000"/>
            </a:avLst>
          </a:prstGeom>
          <a:solidFill>
            <a:schemeClr val="accent2"/>
          </a:solidFill>
          <a:ln/>
        </p:spPr>
      </p:sp>
      <p:sp>
        <p:nvSpPr>
          <p:cNvPr id="5" name="runstrip_1"/>
          <p:cNvSpPr/>
          <p:nvPr/>
        </p:nvSpPr>
        <p:spPr>
          <a:xfrm>
            <a:off x="804672" y="3977640"/>
            <a:ext cx="182880" cy="182880"/>
          </a:xfrm>
          <a:prstGeom prst="roundRect">
            <a:avLst>
              <a:gd name="adj" fmla="val 20000"/>
            </a:avLst>
          </a:prstGeom>
          <a:solidFill>
            <a:schemeClr val="accent2"/>
          </a:solidFill>
          <a:ln/>
        </p:spPr>
      </p:sp>
      <p:sp>
        <p:nvSpPr>
          <p:cNvPr id="6" name="runstrip_2"/>
          <p:cNvSpPr/>
          <p:nvPr/>
        </p:nvSpPr>
        <p:spPr>
          <a:xfrm>
            <a:off x="1060704" y="3977640"/>
            <a:ext cx="182880" cy="182880"/>
          </a:xfrm>
          <a:prstGeom prst="roundRect">
            <a:avLst>
              <a:gd name="adj" fmla="val 20000"/>
            </a:avLst>
          </a:prstGeom>
          <a:solidFill>
            <a:schemeClr val="accent2"/>
          </a:solidFill>
          <a:ln/>
        </p:spPr>
      </p:sp>
      <p:sp>
        <p:nvSpPr>
          <p:cNvPr id="7" name="runstrip_3"/>
          <p:cNvSpPr/>
          <p:nvPr/>
        </p:nvSpPr>
        <p:spPr>
          <a:xfrm>
            <a:off x="1316736" y="3977640"/>
            <a:ext cx="182880" cy="182880"/>
          </a:xfrm>
          <a:prstGeom prst="roundRect">
            <a:avLst>
              <a:gd name="adj" fmla="val 20000"/>
            </a:avLst>
          </a:prstGeom>
          <a:solidFill>
            <a:schemeClr val="accent2"/>
          </a:solidFill>
          <a:ln/>
        </p:spPr>
      </p:sp>
      <p:sp>
        <p:nvSpPr>
          <p:cNvPr id="8" name="runstrip_4"/>
          <p:cNvSpPr/>
          <p:nvPr/>
        </p:nvSpPr>
        <p:spPr>
          <a:xfrm>
            <a:off x="1572768" y="3977640"/>
            <a:ext cx="182880" cy="182880"/>
          </a:xfrm>
          <a:prstGeom prst="roundRect">
            <a:avLst>
              <a:gd name="adj" fmla="val 20000"/>
            </a:avLst>
          </a:prstGeom>
          <a:solidFill>
            <a:schemeClr val="accent2"/>
          </a:solidFill>
          <a:ln/>
        </p:spPr>
      </p:sp>
      <p:sp>
        <p:nvSpPr>
          <p:cNvPr id="9" name="runstrip_5"/>
          <p:cNvSpPr/>
          <p:nvPr/>
        </p:nvSpPr>
        <p:spPr>
          <a:xfrm>
            <a:off x="1828800" y="3977640"/>
            <a:ext cx="182880" cy="182880"/>
          </a:xfrm>
          <a:prstGeom prst="roundRect">
            <a:avLst>
              <a:gd name="adj" fmla="val 20000"/>
            </a:avLst>
          </a:prstGeom>
          <a:solidFill>
            <a:schemeClr val="accent2"/>
          </a:solidFill>
          <a:ln/>
        </p:spPr>
      </p:sp>
      <p:sp>
        <p:nvSpPr>
          <p:cNvPr id="10" name="runstrip_6"/>
          <p:cNvSpPr/>
          <p:nvPr/>
        </p:nvSpPr>
        <p:spPr>
          <a:xfrm>
            <a:off x="2084832" y="3977640"/>
            <a:ext cx="182880" cy="182880"/>
          </a:xfrm>
          <a:prstGeom prst="roundRect">
            <a:avLst>
              <a:gd name="adj" fmla="val 20000"/>
            </a:avLst>
          </a:prstGeom>
          <a:solidFill>
            <a:schemeClr val="accent2"/>
          </a:solidFill>
          <a:ln/>
        </p:spPr>
      </p:sp>
      <p:sp>
        <p:nvSpPr>
          <p:cNvPr id="11" name="runstrip_7"/>
          <p:cNvSpPr/>
          <p:nvPr/>
        </p:nvSpPr>
        <p:spPr>
          <a:xfrm>
            <a:off x="2340864" y="3977640"/>
            <a:ext cx="182880" cy="182880"/>
          </a:xfrm>
          <a:prstGeom prst="roundRect">
            <a:avLst>
              <a:gd name="adj" fmla="val 20000"/>
            </a:avLst>
          </a:prstGeom>
          <a:solidFill>
            <a:schemeClr val="accent2"/>
          </a:solidFill>
          <a:ln/>
        </p:spPr>
      </p:sp>
      <p:sp>
        <p:nvSpPr>
          <p:cNvPr id="12" name="runstrip_8"/>
          <p:cNvSpPr/>
          <p:nvPr/>
        </p:nvSpPr>
        <p:spPr>
          <a:xfrm>
            <a:off x="2596896" y="3977640"/>
            <a:ext cx="182880" cy="182880"/>
          </a:xfrm>
          <a:prstGeom prst="roundRect">
            <a:avLst>
              <a:gd name="adj" fmla="val 20000"/>
            </a:avLst>
          </a:prstGeom>
          <a:solidFill>
            <a:schemeClr val="accent2"/>
          </a:solidFill>
          <a:ln/>
        </p:spPr>
      </p:sp>
      <p:sp>
        <p:nvSpPr>
          <p:cNvPr id="13" name="runstrip_9"/>
          <p:cNvSpPr/>
          <p:nvPr/>
        </p:nvSpPr>
        <p:spPr>
          <a:xfrm>
            <a:off x="2852928" y="3977640"/>
            <a:ext cx="182880" cy="182880"/>
          </a:xfrm>
          <a:prstGeom prst="roundRect">
            <a:avLst>
              <a:gd name="adj" fmla="val 20000"/>
            </a:avLst>
          </a:prstGeom>
          <a:solidFill>
            <a:schemeClr val="accent2"/>
          </a:solidFill>
          <a:ln/>
        </p:spPr>
      </p:sp>
      <p:sp>
        <p:nvSpPr>
          <p:cNvPr id="14" name="runstrip_10"/>
          <p:cNvSpPr/>
          <p:nvPr/>
        </p:nvSpPr>
        <p:spPr>
          <a:xfrm>
            <a:off x="3108960" y="3977640"/>
            <a:ext cx="182880" cy="182880"/>
          </a:xfrm>
          <a:prstGeom prst="roundRect">
            <a:avLst>
              <a:gd name="adj" fmla="val 20000"/>
            </a:avLst>
          </a:prstGeom>
          <a:solidFill>
            <a:schemeClr val="accent2"/>
          </a:solidFill>
          <a:ln/>
        </p:spPr>
      </p:sp>
      <p:sp>
        <p:nvSpPr>
          <p:cNvPr id="15" name="runstrip_11"/>
          <p:cNvSpPr/>
          <p:nvPr/>
        </p:nvSpPr>
        <p:spPr>
          <a:xfrm>
            <a:off x="3364992" y="3977640"/>
            <a:ext cx="182880" cy="182880"/>
          </a:xfrm>
          <a:prstGeom prst="roundRect">
            <a:avLst>
              <a:gd name="adj" fmla="val 20000"/>
            </a:avLst>
          </a:prstGeom>
          <a:solidFill>
            <a:schemeClr val="accent2"/>
          </a:solidFill>
          <a:ln/>
        </p:spPr>
      </p:sp>
      <p:sp>
        <p:nvSpPr>
          <p:cNvPr id="16" name="runstrip_12"/>
          <p:cNvSpPr/>
          <p:nvPr/>
        </p:nvSpPr>
        <p:spPr>
          <a:xfrm>
            <a:off x="3621024" y="3977640"/>
            <a:ext cx="182880" cy="182880"/>
          </a:xfrm>
          <a:prstGeom prst="roundRect">
            <a:avLst>
              <a:gd name="adj" fmla="val 20000"/>
            </a:avLst>
          </a:prstGeom>
          <a:solidFill>
            <a:schemeClr val="accent2"/>
          </a:solidFill>
          <a:ln/>
        </p:spPr>
      </p:sp>
      <p:sp>
        <p:nvSpPr>
          <p:cNvPr id="17" name="runstrip_13"/>
          <p:cNvSpPr/>
          <p:nvPr/>
        </p:nvSpPr>
        <p:spPr>
          <a:xfrm>
            <a:off x="3877056" y="3977640"/>
            <a:ext cx="182880" cy="182880"/>
          </a:xfrm>
          <a:prstGeom prst="roundRect">
            <a:avLst>
              <a:gd name="adj" fmla="val 20000"/>
            </a:avLst>
          </a:prstGeom>
          <a:solidFill>
            <a:schemeClr val="accent2"/>
          </a:solidFill>
          <a:ln/>
        </p:spPr>
      </p:sp>
      <p:sp>
        <p:nvSpPr>
          <p:cNvPr id="18" name="runstrip_14"/>
          <p:cNvSpPr/>
          <p:nvPr/>
        </p:nvSpPr>
        <p:spPr>
          <a:xfrm>
            <a:off x="4133088" y="3977640"/>
            <a:ext cx="182880" cy="182880"/>
          </a:xfrm>
          <a:prstGeom prst="roundRect">
            <a:avLst>
              <a:gd name="adj" fmla="val 20000"/>
            </a:avLst>
          </a:prstGeom>
          <a:solidFill>
            <a:schemeClr val="accent2"/>
          </a:solidFill>
          <a:ln/>
        </p:spPr>
      </p:sp>
      <p:sp>
        <p:nvSpPr>
          <p:cNvPr id="19" name="runstrip_15"/>
          <p:cNvSpPr/>
          <p:nvPr/>
        </p:nvSpPr>
        <p:spPr>
          <a:xfrm>
            <a:off x="4389120" y="3977640"/>
            <a:ext cx="182880" cy="182880"/>
          </a:xfrm>
          <a:prstGeom prst="roundRect">
            <a:avLst>
              <a:gd name="adj" fmla="val 20000"/>
            </a:avLst>
          </a:prstGeom>
          <a:solidFill>
            <a:schemeClr val="accent2"/>
          </a:solidFill>
          <a:ln/>
        </p:spPr>
      </p:sp>
      <p:sp>
        <p:nvSpPr>
          <p:cNvPr id="20" name="runstrip_16"/>
          <p:cNvSpPr/>
          <p:nvPr/>
        </p:nvSpPr>
        <p:spPr>
          <a:xfrm>
            <a:off x="4645152" y="3977640"/>
            <a:ext cx="182880" cy="182880"/>
          </a:xfrm>
          <a:prstGeom prst="roundRect">
            <a:avLst>
              <a:gd name="adj" fmla="val 20000"/>
            </a:avLst>
          </a:prstGeom>
          <a:solidFill>
            <a:schemeClr val="accent2"/>
          </a:solidFill>
          <a:ln/>
        </p:spPr>
      </p:sp>
      <p:sp>
        <p:nvSpPr>
          <p:cNvPr id="21" name="runstrip_17"/>
          <p:cNvSpPr/>
          <p:nvPr/>
        </p:nvSpPr>
        <p:spPr>
          <a:xfrm>
            <a:off x="4901184" y="3977640"/>
            <a:ext cx="182880" cy="182880"/>
          </a:xfrm>
          <a:prstGeom prst="roundRect">
            <a:avLst>
              <a:gd name="adj" fmla="val 20000"/>
            </a:avLst>
          </a:prstGeom>
          <a:solidFill>
            <a:schemeClr val="accent2"/>
          </a:solidFill>
          <a:ln/>
        </p:spPr>
      </p:sp>
      <p:sp>
        <p:nvSpPr>
          <p:cNvPr id="22" name="runstrip_18"/>
          <p:cNvSpPr/>
          <p:nvPr/>
        </p:nvSpPr>
        <p:spPr>
          <a:xfrm>
            <a:off x="5157216" y="3977640"/>
            <a:ext cx="182880" cy="182880"/>
          </a:xfrm>
          <a:prstGeom prst="roundRect">
            <a:avLst>
              <a:gd name="adj" fmla="val 20000"/>
            </a:avLst>
          </a:prstGeom>
          <a:solidFill>
            <a:schemeClr val="accent2"/>
          </a:solidFill>
          <a:ln/>
        </p:spPr>
      </p:sp>
      <p:sp>
        <p:nvSpPr>
          <p:cNvPr id="23" name="runstrip_19"/>
          <p:cNvSpPr/>
          <p:nvPr/>
        </p:nvSpPr>
        <p:spPr>
          <a:xfrm>
            <a:off x="5413248" y="3977640"/>
            <a:ext cx="182880" cy="182880"/>
          </a:xfrm>
          <a:prstGeom prst="roundRect">
            <a:avLst>
              <a:gd name="adj" fmla="val 20000"/>
            </a:avLst>
          </a:prstGeom>
          <a:solidFill>
            <a:schemeClr val="accent2"/>
          </a:solidFill>
          <a:ln/>
        </p:spPr>
      </p:sp>
      <p:sp>
        <p:nvSpPr>
          <p:cNvPr id="24" name="runstrip_20"/>
          <p:cNvSpPr/>
          <p:nvPr/>
        </p:nvSpPr>
        <p:spPr>
          <a:xfrm>
            <a:off x="5669280" y="3977640"/>
            <a:ext cx="182880" cy="182880"/>
          </a:xfrm>
          <a:prstGeom prst="roundRect">
            <a:avLst>
              <a:gd name="adj" fmla="val 20000"/>
            </a:avLst>
          </a:prstGeom>
          <a:solidFill>
            <a:schemeClr val="accent2"/>
          </a:solidFill>
          <a:ln/>
        </p:spPr>
      </p:sp>
      <p:sp>
        <p:nvSpPr>
          <p:cNvPr id="25" name="runstrip_21"/>
          <p:cNvSpPr/>
          <p:nvPr/>
        </p:nvSpPr>
        <p:spPr>
          <a:xfrm>
            <a:off x="5925312" y="3977640"/>
            <a:ext cx="182880" cy="182880"/>
          </a:xfrm>
          <a:prstGeom prst="roundRect">
            <a:avLst>
              <a:gd name="adj" fmla="val 20000"/>
            </a:avLst>
          </a:prstGeom>
          <a:solidFill>
            <a:schemeClr val="accent2"/>
          </a:solidFill>
          <a:ln/>
        </p:spPr>
      </p:sp>
      <p:sp>
        <p:nvSpPr>
          <p:cNvPr id="26" name="runstrip_22"/>
          <p:cNvSpPr/>
          <p:nvPr/>
        </p:nvSpPr>
        <p:spPr>
          <a:xfrm>
            <a:off x="6181344" y="3977640"/>
            <a:ext cx="182880" cy="182880"/>
          </a:xfrm>
          <a:prstGeom prst="roundRect">
            <a:avLst>
              <a:gd name="adj" fmla="val 20000"/>
            </a:avLst>
          </a:prstGeom>
          <a:solidFill>
            <a:schemeClr val="accent1"/>
          </a:solidFill>
          <a:ln/>
        </p:spPr>
      </p:sp>
      <p:sp>
        <p:nvSpPr>
          <p:cNvPr id="27" name="runstrip_23"/>
          <p:cNvSpPr/>
          <p:nvPr/>
        </p:nvSpPr>
        <p:spPr>
          <a:xfrm>
            <a:off x="6437376" y="3977640"/>
            <a:ext cx="182880" cy="182880"/>
          </a:xfrm>
          <a:prstGeom prst="roundRect">
            <a:avLst>
              <a:gd name="adj" fmla="val 20000"/>
            </a:avLst>
          </a:prstGeom>
          <a:solidFill>
            <a:schemeClr val="accent2"/>
          </a:solidFill>
          <a:ln/>
        </p:spPr>
      </p:sp>
      <p:sp>
        <p:nvSpPr>
          <p:cNvPr id="28" name="runstrip_24"/>
          <p:cNvSpPr/>
          <p:nvPr/>
        </p:nvSpPr>
        <p:spPr>
          <a:xfrm>
            <a:off x="6693408" y="3977640"/>
            <a:ext cx="182880" cy="182880"/>
          </a:xfrm>
          <a:prstGeom prst="roundRect">
            <a:avLst>
              <a:gd name="adj" fmla="val 20000"/>
            </a:avLst>
          </a:prstGeom>
          <a:solidFill>
            <a:schemeClr val="accent2"/>
          </a:solidFill>
          <a:ln/>
        </p:spPr>
      </p:sp>
      <p:sp>
        <p:nvSpPr>
          <p:cNvPr id="29" name="runstrip_25"/>
          <p:cNvSpPr/>
          <p:nvPr/>
        </p:nvSpPr>
        <p:spPr>
          <a:xfrm>
            <a:off x="6949440" y="3977640"/>
            <a:ext cx="182880" cy="182880"/>
          </a:xfrm>
          <a:prstGeom prst="roundRect">
            <a:avLst>
              <a:gd name="adj" fmla="val 20000"/>
            </a:avLst>
          </a:prstGeom>
          <a:solidFill>
            <a:schemeClr val="accent2"/>
          </a:solidFill>
          <a:ln/>
        </p:spPr>
      </p:sp>
      <p:sp>
        <p:nvSpPr>
          <p:cNvPr id="30" name="runstrip_26"/>
          <p:cNvSpPr/>
          <p:nvPr/>
        </p:nvSpPr>
        <p:spPr>
          <a:xfrm>
            <a:off x="7205472" y="3977640"/>
            <a:ext cx="182880" cy="182880"/>
          </a:xfrm>
          <a:prstGeom prst="roundRect">
            <a:avLst>
              <a:gd name="adj" fmla="val 20000"/>
            </a:avLst>
          </a:prstGeom>
          <a:solidFill>
            <a:schemeClr val="accent2"/>
          </a:solidFill>
          <a:ln/>
        </p:spPr>
      </p:sp>
      <p:sp>
        <p:nvSpPr>
          <p:cNvPr id="31" name="runstrip_27"/>
          <p:cNvSpPr/>
          <p:nvPr/>
        </p:nvSpPr>
        <p:spPr>
          <a:xfrm>
            <a:off x="7461504" y="3977640"/>
            <a:ext cx="182880" cy="182880"/>
          </a:xfrm>
          <a:prstGeom prst="roundRect">
            <a:avLst>
              <a:gd name="adj" fmla="val 20000"/>
            </a:avLst>
          </a:prstGeom>
          <a:solidFill>
            <a:schemeClr val="accent2"/>
          </a:solidFill>
          <a:ln/>
        </p:spPr>
      </p:sp>
      <p:sp>
        <p:nvSpPr>
          <p:cNvPr id="32" name="runstrip_28"/>
          <p:cNvSpPr/>
          <p:nvPr/>
        </p:nvSpPr>
        <p:spPr>
          <a:xfrm>
            <a:off x="7717536" y="3977640"/>
            <a:ext cx="182880" cy="182880"/>
          </a:xfrm>
          <a:prstGeom prst="roundRect">
            <a:avLst>
              <a:gd name="adj" fmla="val 20000"/>
            </a:avLst>
          </a:prstGeom>
          <a:solidFill>
            <a:schemeClr val="accent2"/>
          </a:solidFill>
          <a:ln/>
        </p:spPr>
      </p:sp>
      <p:sp>
        <p:nvSpPr>
          <p:cNvPr id="33" name="runstrip_29"/>
          <p:cNvSpPr/>
          <p:nvPr/>
        </p:nvSpPr>
        <p:spPr>
          <a:xfrm>
            <a:off x="7973568" y="3977640"/>
            <a:ext cx="182880" cy="182880"/>
          </a:xfrm>
          <a:prstGeom prst="roundRect">
            <a:avLst>
              <a:gd name="adj" fmla="val 20000"/>
            </a:avLst>
          </a:prstGeom>
          <a:solidFill>
            <a:schemeClr val="accent2"/>
          </a:solidFill>
          <a:ln/>
        </p:spPr>
      </p:sp>
      <p:sp>
        <p:nvSpPr>
          <p:cNvPr id="34" name="runstrip_caption"/>
          <p:cNvSpPr txBox="1"/>
          <p:nvPr/>
        </p:nvSpPr>
        <p:spPr>
          <a:xfrm>
            <a:off x="548640" y="4251960"/>
            <a:ext cx="7772400" cy="274320"/>
          </a:xfrm>
          <a:prstGeom prst="rect">
            <a:avLst/>
          </a:prstGeom>
          <a:noFill/>
          <a:ln/>
        </p:spPr>
        <p:txBody>
          <a:bodyPr wrap="square" lIns="0" tIns="0" rIns="0" bIns="0" rtlCol="0" anchor="ctr"/>
          <a:lstStyle/>
          <a:p>
            <a:pPr indent="0" marL="0">
              <a:buNone/>
            </a:pPr>
            <a:r>
              <a:rPr lang="en-US" sz="1100" i="1" dirty="0">
                <a:solidFill>
                  <a:schemeClr val="accent4"/>
                </a:solidFill>
              </a:rPr>
              <a:t>30 reruns of one test, one of them failed</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rPr>
              <a:t>Generation pipelines trust one passing run</a:t>
            </a:r>
            <a:endParaRPr lang="en-US" sz="3000" dirty="0"/>
          </a:p>
        </p:txBody>
      </p:sp>
      <p:sp>
        <p:nvSpPr>
          <p:cNvPr id="3" name="step_0"/>
          <p:cNvSpPr/>
          <p:nvPr/>
        </p:nvSpPr>
        <p:spPr>
          <a:xfrm>
            <a:off x="457200" y="1325880"/>
            <a:ext cx="1691640" cy="868680"/>
          </a:xfrm>
          <a:prstGeom prst="roundRect">
            <a:avLst>
              <a:gd name="adj" fmla="val 12632"/>
            </a:avLst>
          </a:prstGeom>
          <a:solidFill>
            <a:schemeClr val="bg2"/>
          </a:solidFill>
          <a:ln/>
        </p:spPr>
      </p:sp>
      <p:sp>
        <p:nvSpPr>
          <p:cNvPr id="4" name="step_text_0"/>
          <p:cNvSpPr txBox="1"/>
          <p:nvPr/>
        </p:nvSpPr>
        <p:spPr>
          <a:xfrm>
            <a:off x="457200" y="1325880"/>
            <a:ext cx="1691640" cy="868680"/>
          </a:xfrm>
          <a:prstGeom prst="rect">
            <a:avLst/>
          </a:prstGeom>
          <a:noFill/>
          <a:ln/>
        </p:spPr>
        <p:txBody>
          <a:bodyPr wrap="square" lIns="50800" tIns="50800" rIns="50800" bIns="50800" rtlCol="0" anchor="ctr"/>
          <a:lstStyle/>
          <a:p>
            <a:pPr algn="ctr" indent="0" marL="0">
              <a:buNone/>
            </a:pPr>
            <a:r>
              <a:rPr lang="en-US" sz="1600" b="1" dirty="0">
                <a:solidFill>
                  <a:schemeClr val="tx1"/>
                </a:solidFill>
              </a:rPr>
              <a:t>LLM writes a test</a:t>
            </a:r>
            <a:endParaRPr lang="en-US" sz="1600" dirty="0"/>
          </a:p>
        </p:txBody>
      </p:sp>
      <p:sp>
        <p:nvSpPr>
          <p:cNvPr id="5" name="arrow_0"/>
          <p:cNvSpPr/>
          <p:nvPr/>
        </p:nvSpPr>
        <p:spPr>
          <a:xfrm>
            <a:off x="2221992" y="1760220"/>
            <a:ext cx="338328" cy="0"/>
          </a:xfrm>
          <a:prstGeom prst="line">
            <a:avLst/>
          </a:prstGeom>
          <a:noFill/>
          <a:ln w="25400">
            <a:solidFill>
              <a:schemeClr val="accent4"/>
            </a:solidFill>
            <a:prstDash val="solid"/>
            <a:tailEnd type="triangle"/>
          </a:ln>
        </p:spPr>
      </p:sp>
      <p:sp>
        <p:nvSpPr>
          <p:cNvPr id="6" name="step_1"/>
          <p:cNvSpPr/>
          <p:nvPr/>
        </p:nvSpPr>
        <p:spPr>
          <a:xfrm>
            <a:off x="2633472" y="1325880"/>
            <a:ext cx="1691640" cy="868680"/>
          </a:xfrm>
          <a:prstGeom prst="roundRect">
            <a:avLst>
              <a:gd name="adj" fmla="val 12632"/>
            </a:avLst>
          </a:prstGeom>
          <a:solidFill>
            <a:schemeClr val="bg2"/>
          </a:solidFill>
          <a:ln/>
        </p:spPr>
      </p:sp>
      <p:sp>
        <p:nvSpPr>
          <p:cNvPr id="7" name="step_text_1"/>
          <p:cNvSpPr txBox="1"/>
          <p:nvPr/>
        </p:nvSpPr>
        <p:spPr>
          <a:xfrm>
            <a:off x="2633472" y="1325880"/>
            <a:ext cx="1691640" cy="868680"/>
          </a:xfrm>
          <a:prstGeom prst="rect">
            <a:avLst/>
          </a:prstGeom>
          <a:noFill/>
          <a:ln/>
        </p:spPr>
        <p:txBody>
          <a:bodyPr wrap="square" lIns="50800" tIns="50800" rIns="50800" bIns="50800" rtlCol="0" anchor="ctr"/>
          <a:lstStyle/>
          <a:p>
            <a:pPr algn="ctr" indent="0" marL="0">
              <a:buNone/>
            </a:pPr>
            <a:r>
              <a:rPr lang="en-US" sz="1600" b="1" dirty="0">
                <a:solidFill>
                  <a:schemeClr val="tx1"/>
                </a:solidFill>
              </a:rPr>
              <a:t>Run it once</a:t>
            </a:r>
            <a:endParaRPr lang="en-US" sz="1600" dirty="0"/>
          </a:p>
        </p:txBody>
      </p:sp>
      <p:sp>
        <p:nvSpPr>
          <p:cNvPr id="8" name="arrow_1"/>
          <p:cNvSpPr/>
          <p:nvPr/>
        </p:nvSpPr>
        <p:spPr>
          <a:xfrm>
            <a:off x="4398264" y="1760220"/>
            <a:ext cx="338328" cy="0"/>
          </a:xfrm>
          <a:prstGeom prst="line">
            <a:avLst/>
          </a:prstGeom>
          <a:noFill/>
          <a:ln w="25400">
            <a:solidFill>
              <a:schemeClr val="accent4"/>
            </a:solidFill>
            <a:prstDash val="solid"/>
            <a:tailEnd type="triangle"/>
          </a:ln>
        </p:spPr>
      </p:sp>
      <p:sp>
        <p:nvSpPr>
          <p:cNvPr id="9" name="step_2"/>
          <p:cNvSpPr/>
          <p:nvPr/>
        </p:nvSpPr>
        <p:spPr>
          <a:xfrm>
            <a:off x="4809744" y="1325880"/>
            <a:ext cx="1691640" cy="868680"/>
          </a:xfrm>
          <a:prstGeom prst="roundRect">
            <a:avLst>
              <a:gd name="adj" fmla="val 12632"/>
            </a:avLst>
          </a:prstGeom>
          <a:solidFill>
            <a:schemeClr val="bg2"/>
          </a:solidFill>
          <a:ln/>
        </p:spPr>
      </p:sp>
      <p:sp>
        <p:nvSpPr>
          <p:cNvPr id="10" name="step_text_2"/>
          <p:cNvSpPr txBox="1"/>
          <p:nvPr/>
        </p:nvSpPr>
        <p:spPr>
          <a:xfrm>
            <a:off x="4809744" y="1325880"/>
            <a:ext cx="1691640" cy="868680"/>
          </a:xfrm>
          <a:prstGeom prst="rect">
            <a:avLst/>
          </a:prstGeom>
          <a:noFill/>
          <a:ln/>
        </p:spPr>
        <p:txBody>
          <a:bodyPr wrap="square" lIns="50800" tIns="50800" rIns="50800" bIns="50800" rtlCol="0" anchor="ctr"/>
          <a:lstStyle/>
          <a:p>
            <a:pPr algn="ctr" indent="0" marL="0">
              <a:buNone/>
            </a:pPr>
            <a:r>
              <a:rPr lang="en-US" sz="1600" b="1" dirty="0">
                <a:solidFill>
                  <a:schemeClr val="tx1"/>
                </a:solidFill>
              </a:rPr>
              <a:t>It passed</a:t>
            </a:r>
            <a:endParaRPr lang="en-US" sz="1600" dirty="0"/>
          </a:p>
        </p:txBody>
      </p:sp>
      <p:sp>
        <p:nvSpPr>
          <p:cNvPr id="11" name="arrow_2"/>
          <p:cNvSpPr/>
          <p:nvPr/>
        </p:nvSpPr>
        <p:spPr>
          <a:xfrm>
            <a:off x="6574536" y="1760220"/>
            <a:ext cx="338328" cy="0"/>
          </a:xfrm>
          <a:prstGeom prst="line">
            <a:avLst/>
          </a:prstGeom>
          <a:noFill/>
          <a:ln w="25400">
            <a:solidFill>
              <a:schemeClr val="accent4"/>
            </a:solidFill>
            <a:prstDash val="solid"/>
            <a:tailEnd type="triangle"/>
          </a:ln>
        </p:spPr>
      </p:sp>
      <p:sp>
        <p:nvSpPr>
          <p:cNvPr id="12" name="step_3"/>
          <p:cNvSpPr/>
          <p:nvPr/>
        </p:nvSpPr>
        <p:spPr>
          <a:xfrm>
            <a:off x="6986016" y="1325880"/>
            <a:ext cx="1691640" cy="868680"/>
          </a:xfrm>
          <a:prstGeom prst="roundRect">
            <a:avLst>
              <a:gd name="adj" fmla="val 12632"/>
            </a:avLst>
          </a:prstGeom>
          <a:solidFill>
            <a:schemeClr val="accent1"/>
          </a:solidFill>
          <a:ln/>
        </p:spPr>
      </p:sp>
      <p:sp>
        <p:nvSpPr>
          <p:cNvPr id="13" name="step_text_3"/>
          <p:cNvSpPr txBox="1"/>
          <p:nvPr/>
        </p:nvSpPr>
        <p:spPr>
          <a:xfrm>
            <a:off x="6986016" y="1325880"/>
            <a:ext cx="1691640" cy="868680"/>
          </a:xfrm>
          <a:prstGeom prst="rect">
            <a:avLst/>
          </a:prstGeom>
          <a:noFill/>
          <a:ln/>
        </p:spPr>
        <p:txBody>
          <a:bodyPr wrap="square" lIns="50800" tIns="50800" rIns="50800" bIns="50800" rtlCol="0" anchor="ctr"/>
          <a:lstStyle/>
          <a:p>
            <a:pPr algn="ctr" indent="0" marL="0">
              <a:buNone/>
            </a:pPr>
            <a:r>
              <a:rPr lang="en-US" sz="1600" b="1" dirty="0">
                <a:solidFill>
                  <a:schemeClr val="tx1"/>
                </a:solidFill>
              </a:rPr>
              <a:t>Keep it forever</a:t>
            </a:r>
            <a:endParaRPr lang="en-US" sz="1600" dirty="0"/>
          </a:p>
        </p:txBody>
      </p:sp>
      <p:sp>
        <p:nvSpPr>
          <p:cNvPr id="14" name="why_bullets"/>
          <p:cNvSpPr txBox="1"/>
          <p:nvPr/>
        </p:nvSpPr>
        <p:spPr>
          <a:xfrm>
            <a:off x="457200" y="2514600"/>
            <a:ext cx="5120640" cy="19202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TestPilot and most Copilot style pipelines keep a generated test if it passes one run.</a:t>
            </a:r>
            <a:endParaRPr lang="en-US" sz="1500" dirty="0"/>
          </a:p>
          <a:p>
            <a:pPr marL="342900" indent="-342900">
              <a:spcAft>
                <a:spcPts val="800"/>
              </a:spcAft>
              <a:buSzPct val="100000"/>
              <a:buChar char="•"/>
            </a:pPr>
            <a:r>
              <a:rPr lang="en-US" sz="1500" dirty="0">
                <a:solidFill>
                  <a:schemeClr val="tx1"/>
                </a:solidFill>
              </a:rPr>
              <a:t>Every big flaky test study so far looks at tests written by people.</a:t>
            </a:r>
            <a:endParaRPr lang="en-US" sz="1500" dirty="0"/>
          </a:p>
          <a:p>
            <a:pPr marL="342900" indent="-342900">
              <a:spcAft>
                <a:spcPts val="800"/>
              </a:spcAft>
              <a:buSzPct val="100000"/>
              <a:buChar char="•"/>
            </a:pPr>
            <a:r>
              <a:rPr lang="en-US" sz="1500" dirty="0">
                <a:solidFill>
                  <a:schemeClr val="tx1"/>
                </a:solidFill>
              </a:rPr>
              <a:t>So we want to know if LLM tests are more flaky, why, and if one run is enough to catch it.</a:t>
            </a:r>
            <a:endParaRPr lang="en-US" sz="1500" dirty="0"/>
          </a:p>
        </p:txBody>
      </p:sp>
      <p:sp>
        <p:nvSpPr>
          <p:cNvPr id="15" name="callout_box"/>
          <p:cNvSpPr/>
          <p:nvPr/>
        </p:nvSpPr>
        <p:spPr>
          <a:xfrm>
            <a:off x="5897880" y="2560320"/>
            <a:ext cx="2788920" cy="1783080"/>
          </a:xfrm>
          <a:prstGeom prst="roundRect">
            <a:avLst>
              <a:gd name="adj" fmla="val 6154"/>
            </a:avLst>
          </a:prstGeom>
          <a:solidFill>
            <a:schemeClr val="tx1"/>
          </a:solidFill>
          <a:ln/>
        </p:spPr>
      </p:sp>
      <p:sp>
        <p:nvSpPr>
          <p:cNvPr id="16" name="mini_strip_0"/>
          <p:cNvSpPr/>
          <p:nvPr/>
        </p:nvSpPr>
        <p:spPr>
          <a:xfrm>
            <a:off x="6126480" y="2788920"/>
            <a:ext cx="219456" cy="219456"/>
          </a:xfrm>
          <a:prstGeom prst="roundRect">
            <a:avLst>
              <a:gd name="adj" fmla="val 16667"/>
            </a:avLst>
          </a:prstGeom>
          <a:solidFill>
            <a:schemeClr val="accent2"/>
          </a:solidFill>
          <a:ln/>
        </p:spPr>
      </p:sp>
      <p:sp>
        <p:nvSpPr>
          <p:cNvPr id="17" name="mini_strip_1"/>
          <p:cNvSpPr/>
          <p:nvPr/>
        </p:nvSpPr>
        <p:spPr>
          <a:xfrm>
            <a:off x="6419088" y="2788920"/>
            <a:ext cx="219456" cy="219456"/>
          </a:xfrm>
          <a:prstGeom prst="roundRect">
            <a:avLst>
              <a:gd name="adj" fmla="val 16667"/>
            </a:avLst>
          </a:prstGeom>
          <a:solidFill>
            <a:schemeClr val="accent2"/>
          </a:solidFill>
          <a:ln/>
        </p:spPr>
      </p:sp>
      <p:sp>
        <p:nvSpPr>
          <p:cNvPr id="18" name="mini_strip_2"/>
          <p:cNvSpPr/>
          <p:nvPr/>
        </p:nvSpPr>
        <p:spPr>
          <a:xfrm>
            <a:off x="6711696" y="2788920"/>
            <a:ext cx="219456" cy="219456"/>
          </a:xfrm>
          <a:prstGeom prst="roundRect">
            <a:avLst>
              <a:gd name="adj" fmla="val 16667"/>
            </a:avLst>
          </a:prstGeom>
          <a:solidFill>
            <a:schemeClr val="accent2"/>
          </a:solidFill>
          <a:ln/>
        </p:spPr>
      </p:sp>
      <p:sp>
        <p:nvSpPr>
          <p:cNvPr id="19" name="mini_strip_3"/>
          <p:cNvSpPr/>
          <p:nvPr/>
        </p:nvSpPr>
        <p:spPr>
          <a:xfrm>
            <a:off x="7004304" y="2788920"/>
            <a:ext cx="219456" cy="219456"/>
          </a:xfrm>
          <a:prstGeom prst="roundRect">
            <a:avLst>
              <a:gd name="adj" fmla="val 16667"/>
            </a:avLst>
          </a:prstGeom>
          <a:solidFill>
            <a:schemeClr val="accent2"/>
          </a:solidFill>
          <a:ln/>
        </p:spPr>
      </p:sp>
      <p:sp>
        <p:nvSpPr>
          <p:cNvPr id="20" name="mini_strip_4"/>
          <p:cNvSpPr/>
          <p:nvPr/>
        </p:nvSpPr>
        <p:spPr>
          <a:xfrm>
            <a:off x="7296912" y="2788920"/>
            <a:ext cx="219456" cy="219456"/>
          </a:xfrm>
          <a:prstGeom prst="roundRect">
            <a:avLst>
              <a:gd name="adj" fmla="val 16667"/>
            </a:avLst>
          </a:prstGeom>
          <a:solidFill>
            <a:schemeClr val="accent2"/>
          </a:solidFill>
          <a:ln/>
        </p:spPr>
      </p:sp>
      <p:sp>
        <p:nvSpPr>
          <p:cNvPr id="21" name="mini_strip_5"/>
          <p:cNvSpPr/>
          <p:nvPr/>
        </p:nvSpPr>
        <p:spPr>
          <a:xfrm>
            <a:off x="7589520" y="2788920"/>
            <a:ext cx="219456" cy="219456"/>
          </a:xfrm>
          <a:prstGeom prst="roundRect">
            <a:avLst>
              <a:gd name="adj" fmla="val 16667"/>
            </a:avLst>
          </a:prstGeom>
          <a:solidFill>
            <a:schemeClr val="accent1"/>
          </a:solidFill>
          <a:ln/>
        </p:spPr>
      </p:sp>
      <p:sp>
        <p:nvSpPr>
          <p:cNvPr id="22" name="mini_strip_6"/>
          <p:cNvSpPr/>
          <p:nvPr/>
        </p:nvSpPr>
        <p:spPr>
          <a:xfrm>
            <a:off x="7882128" y="2788920"/>
            <a:ext cx="219456" cy="219456"/>
          </a:xfrm>
          <a:prstGeom prst="roundRect">
            <a:avLst>
              <a:gd name="adj" fmla="val 16667"/>
            </a:avLst>
          </a:prstGeom>
          <a:solidFill>
            <a:schemeClr val="accent2"/>
          </a:solidFill>
          <a:ln/>
        </p:spPr>
      </p:sp>
      <p:sp>
        <p:nvSpPr>
          <p:cNvPr id="23" name="mini_strip_7"/>
          <p:cNvSpPr/>
          <p:nvPr/>
        </p:nvSpPr>
        <p:spPr>
          <a:xfrm>
            <a:off x="8174736" y="2788920"/>
            <a:ext cx="219456" cy="219456"/>
          </a:xfrm>
          <a:prstGeom prst="roundRect">
            <a:avLst>
              <a:gd name="adj" fmla="val 16667"/>
            </a:avLst>
          </a:prstGeom>
          <a:solidFill>
            <a:schemeClr val="accent2"/>
          </a:solidFill>
          <a:ln/>
        </p:spPr>
      </p:sp>
      <p:sp>
        <p:nvSpPr>
          <p:cNvPr id="24" name="callout_text"/>
          <p:cNvSpPr txBox="1"/>
          <p:nvPr/>
        </p:nvSpPr>
        <p:spPr>
          <a:xfrm>
            <a:off x="6126480" y="3154680"/>
            <a:ext cx="2377440" cy="1051560"/>
          </a:xfrm>
          <a:prstGeom prst="rect">
            <a:avLst/>
          </a:prstGeom>
          <a:noFill/>
          <a:ln/>
        </p:spPr>
        <p:txBody>
          <a:bodyPr wrap="square" lIns="0" tIns="0" rIns="0" bIns="0" rtlCol="0" anchor="t"/>
          <a:lstStyle/>
          <a:p>
            <a:pPr indent="0" marL="0">
              <a:buNone/>
            </a:pPr>
            <a:r>
              <a:rPr lang="en-US" sz="1400" i="1" dirty="0">
                <a:solidFill>
                  <a:schemeClr val="bg1"/>
                </a:solidFill>
              </a:rPr>
              <a:t>A flaky test can pass the one run that decides if it gets kept.</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rPr>
              <a:t>What we plan to run</a:t>
            </a:r>
            <a:endParaRPr lang="en-US" sz="3000" dirty="0"/>
          </a:p>
        </p:txBody>
      </p:sp>
      <p:sp>
        <p:nvSpPr>
          <p:cNvPr id="3" name="libs_header"/>
          <p:cNvSpPr txBox="1"/>
          <p:nvPr/>
        </p:nvSpPr>
        <p:spPr>
          <a:xfrm>
            <a:off x="457200" y="1097280"/>
            <a:ext cx="3749040" cy="320040"/>
          </a:xfrm>
          <a:prstGeom prst="rect">
            <a:avLst/>
          </a:prstGeom>
          <a:noFill/>
          <a:ln/>
        </p:spPr>
        <p:txBody>
          <a:bodyPr wrap="square" lIns="0" tIns="0" rIns="0" bIns="0" rtlCol="0" anchor="ctr"/>
          <a:lstStyle/>
          <a:p>
            <a:pPr indent="0" marL="0">
              <a:buNone/>
            </a:pPr>
            <a:r>
              <a:rPr lang="en-US" sz="1600" b="1" dirty="0">
                <a:solidFill>
                  <a:schemeClr val="tx1"/>
                </a:solidFill>
              </a:rPr>
              <a:t>Candidate Python libraries</a:t>
            </a:r>
            <a:endParaRPr lang="en-US" sz="1600" dirty="0"/>
          </a:p>
        </p:txBody>
      </p:sp>
      <p:sp>
        <p:nvSpPr>
          <p:cNvPr id="4" name="lib_0"/>
          <p:cNvSpPr/>
          <p:nvPr/>
        </p:nvSpPr>
        <p:spPr>
          <a:xfrm>
            <a:off x="457200" y="1508760"/>
            <a:ext cx="1161288" cy="347472"/>
          </a:xfrm>
          <a:prstGeom prst="roundRect">
            <a:avLst>
              <a:gd name="adj" fmla="val 21053"/>
            </a:avLst>
          </a:prstGeom>
          <a:solidFill>
            <a:schemeClr val="bg2"/>
          </a:solidFill>
          <a:ln/>
        </p:spPr>
      </p:sp>
      <p:sp>
        <p:nvSpPr>
          <p:cNvPr id="5" name="lib_text_0"/>
          <p:cNvSpPr txBox="1"/>
          <p:nvPr/>
        </p:nvSpPr>
        <p:spPr>
          <a:xfrm>
            <a:off x="457200" y="1508760"/>
            <a:ext cx="1161288" cy="347472"/>
          </a:xfrm>
          <a:prstGeom prst="rect">
            <a:avLst/>
          </a:prstGeom>
          <a:noFill/>
          <a:ln/>
        </p:spPr>
        <p:txBody>
          <a:bodyPr wrap="square" lIns="0" tIns="0" rIns="0" bIns="0" rtlCol="0" anchor="ctr"/>
          <a:lstStyle/>
          <a:p>
            <a:pPr algn="ctr" indent="0" marL="0">
              <a:buNone/>
            </a:pPr>
            <a:r>
              <a:rPr lang="en-US" sz="1100" dirty="0">
                <a:solidFill>
                  <a:schemeClr val="tx1"/>
                </a:solidFill>
              </a:rPr>
              <a:t>cachetools</a:t>
            </a:r>
            <a:endParaRPr lang="en-US" sz="1100" dirty="0"/>
          </a:p>
        </p:txBody>
      </p:sp>
      <p:sp>
        <p:nvSpPr>
          <p:cNvPr id="6" name="lib_1"/>
          <p:cNvSpPr/>
          <p:nvPr/>
        </p:nvSpPr>
        <p:spPr>
          <a:xfrm>
            <a:off x="1709928" y="1508760"/>
            <a:ext cx="1161288" cy="347472"/>
          </a:xfrm>
          <a:prstGeom prst="roundRect">
            <a:avLst>
              <a:gd name="adj" fmla="val 21053"/>
            </a:avLst>
          </a:prstGeom>
          <a:solidFill>
            <a:schemeClr val="bg2"/>
          </a:solidFill>
          <a:ln/>
        </p:spPr>
      </p:sp>
      <p:sp>
        <p:nvSpPr>
          <p:cNvPr id="7" name="lib_text_1"/>
          <p:cNvSpPr txBox="1"/>
          <p:nvPr/>
        </p:nvSpPr>
        <p:spPr>
          <a:xfrm>
            <a:off x="1709928" y="1508760"/>
            <a:ext cx="1161288" cy="347472"/>
          </a:xfrm>
          <a:prstGeom prst="rect">
            <a:avLst/>
          </a:prstGeom>
          <a:noFill/>
          <a:ln/>
        </p:spPr>
        <p:txBody>
          <a:bodyPr wrap="square" lIns="0" tIns="0" rIns="0" bIns="0" rtlCol="0" anchor="ctr"/>
          <a:lstStyle/>
          <a:p>
            <a:pPr algn="ctr" indent="0" marL="0">
              <a:buNone/>
            </a:pPr>
            <a:r>
              <a:rPr lang="en-US" sz="1100" dirty="0">
                <a:solidFill>
                  <a:schemeClr val="tx1"/>
                </a:solidFill>
              </a:rPr>
              <a:t>schedule</a:t>
            </a:r>
            <a:endParaRPr lang="en-US" sz="1100" dirty="0"/>
          </a:p>
        </p:txBody>
      </p:sp>
      <p:sp>
        <p:nvSpPr>
          <p:cNvPr id="8" name="lib_2"/>
          <p:cNvSpPr/>
          <p:nvPr/>
        </p:nvSpPr>
        <p:spPr>
          <a:xfrm>
            <a:off x="2962656" y="1508760"/>
            <a:ext cx="1161288" cy="347472"/>
          </a:xfrm>
          <a:prstGeom prst="roundRect">
            <a:avLst>
              <a:gd name="adj" fmla="val 21053"/>
            </a:avLst>
          </a:prstGeom>
          <a:solidFill>
            <a:schemeClr val="bg2"/>
          </a:solidFill>
          <a:ln/>
        </p:spPr>
      </p:sp>
      <p:sp>
        <p:nvSpPr>
          <p:cNvPr id="9" name="lib_text_2"/>
          <p:cNvSpPr txBox="1"/>
          <p:nvPr/>
        </p:nvSpPr>
        <p:spPr>
          <a:xfrm>
            <a:off x="2962656" y="1508760"/>
            <a:ext cx="1161288" cy="347472"/>
          </a:xfrm>
          <a:prstGeom prst="rect">
            <a:avLst/>
          </a:prstGeom>
          <a:noFill/>
          <a:ln/>
        </p:spPr>
        <p:txBody>
          <a:bodyPr wrap="square" lIns="0" tIns="0" rIns="0" bIns="0" rtlCol="0" anchor="ctr"/>
          <a:lstStyle/>
          <a:p>
            <a:pPr algn="ctr" indent="0" marL="0">
              <a:buNone/>
            </a:pPr>
            <a:r>
              <a:rPr lang="en-US" sz="1100" dirty="0">
                <a:solidFill>
                  <a:schemeClr val="tx1"/>
                </a:solidFill>
              </a:rPr>
              <a:t>tinydb</a:t>
            </a:r>
            <a:endParaRPr lang="en-US" sz="1100" dirty="0"/>
          </a:p>
        </p:txBody>
      </p:sp>
      <p:sp>
        <p:nvSpPr>
          <p:cNvPr id="10" name="lib_3"/>
          <p:cNvSpPr/>
          <p:nvPr/>
        </p:nvSpPr>
        <p:spPr>
          <a:xfrm>
            <a:off x="457200" y="1965960"/>
            <a:ext cx="1161288" cy="347472"/>
          </a:xfrm>
          <a:prstGeom prst="roundRect">
            <a:avLst>
              <a:gd name="adj" fmla="val 21053"/>
            </a:avLst>
          </a:prstGeom>
          <a:solidFill>
            <a:schemeClr val="bg2"/>
          </a:solidFill>
          <a:ln/>
        </p:spPr>
      </p:sp>
      <p:sp>
        <p:nvSpPr>
          <p:cNvPr id="11" name="lib_text_3"/>
          <p:cNvSpPr txBox="1"/>
          <p:nvPr/>
        </p:nvSpPr>
        <p:spPr>
          <a:xfrm>
            <a:off x="457200" y="1965960"/>
            <a:ext cx="1161288" cy="347472"/>
          </a:xfrm>
          <a:prstGeom prst="rect">
            <a:avLst/>
          </a:prstGeom>
          <a:noFill/>
          <a:ln/>
        </p:spPr>
        <p:txBody>
          <a:bodyPr wrap="square" lIns="0" tIns="0" rIns="0" bIns="0" rtlCol="0" anchor="ctr"/>
          <a:lstStyle/>
          <a:p>
            <a:pPr algn="ctr" indent="0" marL="0">
              <a:buNone/>
            </a:pPr>
            <a:r>
              <a:rPr lang="en-US" sz="1100" dirty="0">
                <a:solidFill>
                  <a:schemeClr val="tx1"/>
                </a:solidFill>
              </a:rPr>
              <a:t>humanize</a:t>
            </a:r>
            <a:endParaRPr lang="en-US" sz="1100" dirty="0"/>
          </a:p>
        </p:txBody>
      </p:sp>
      <p:sp>
        <p:nvSpPr>
          <p:cNvPr id="12" name="lib_4"/>
          <p:cNvSpPr/>
          <p:nvPr/>
        </p:nvSpPr>
        <p:spPr>
          <a:xfrm>
            <a:off x="1709928" y="1965960"/>
            <a:ext cx="1161288" cy="347472"/>
          </a:xfrm>
          <a:prstGeom prst="roundRect">
            <a:avLst>
              <a:gd name="adj" fmla="val 21053"/>
            </a:avLst>
          </a:prstGeom>
          <a:solidFill>
            <a:schemeClr val="bg2"/>
          </a:solidFill>
          <a:ln/>
        </p:spPr>
      </p:sp>
      <p:sp>
        <p:nvSpPr>
          <p:cNvPr id="13" name="lib_text_4"/>
          <p:cNvSpPr txBox="1"/>
          <p:nvPr/>
        </p:nvSpPr>
        <p:spPr>
          <a:xfrm>
            <a:off x="1709928" y="1965960"/>
            <a:ext cx="1161288" cy="347472"/>
          </a:xfrm>
          <a:prstGeom prst="rect">
            <a:avLst/>
          </a:prstGeom>
          <a:noFill/>
          <a:ln/>
        </p:spPr>
        <p:txBody>
          <a:bodyPr wrap="square" lIns="0" tIns="0" rIns="0" bIns="0" rtlCol="0" anchor="ctr"/>
          <a:lstStyle/>
          <a:p>
            <a:pPr algn="ctr" indent="0" marL="0">
              <a:buNone/>
            </a:pPr>
            <a:r>
              <a:rPr lang="en-US" sz="1100" dirty="0">
                <a:solidFill>
                  <a:schemeClr val="tx1"/>
                </a:solidFill>
              </a:rPr>
              <a:t>toolz</a:t>
            </a:r>
            <a:endParaRPr lang="en-US" sz="1100" dirty="0"/>
          </a:p>
        </p:txBody>
      </p:sp>
      <p:sp>
        <p:nvSpPr>
          <p:cNvPr id="14" name="lib_5"/>
          <p:cNvSpPr/>
          <p:nvPr/>
        </p:nvSpPr>
        <p:spPr>
          <a:xfrm>
            <a:off x="2962656" y="1965960"/>
            <a:ext cx="1161288" cy="347472"/>
          </a:xfrm>
          <a:prstGeom prst="roundRect">
            <a:avLst>
              <a:gd name="adj" fmla="val 21053"/>
            </a:avLst>
          </a:prstGeom>
          <a:solidFill>
            <a:schemeClr val="bg2"/>
          </a:solidFill>
          <a:ln/>
        </p:spPr>
      </p:sp>
      <p:sp>
        <p:nvSpPr>
          <p:cNvPr id="15" name="lib_text_5"/>
          <p:cNvSpPr txBox="1"/>
          <p:nvPr/>
        </p:nvSpPr>
        <p:spPr>
          <a:xfrm>
            <a:off x="2962656" y="1965960"/>
            <a:ext cx="1161288" cy="347472"/>
          </a:xfrm>
          <a:prstGeom prst="rect">
            <a:avLst/>
          </a:prstGeom>
          <a:noFill/>
          <a:ln/>
        </p:spPr>
        <p:txBody>
          <a:bodyPr wrap="square" lIns="0" tIns="0" rIns="0" bIns="0" rtlCol="0" anchor="ctr"/>
          <a:lstStyle/>
          <a:p>
            <a:pPr algn="ctr" indent="0" marL="0">
              <a:buNone/>
            </a:pPr>
            <a:r>
              <a:rPr lang="en-US" sz="1100" dirty="0">
                <a:solidFill>
                  <a:schemeClr val="tx1"/>
                </a:solidFill>
              </a:rPr>
              <a:t>tabulate</a:t>
            </a:r>
            <a:endParaRPr lang="en-US" sz="1100" dirty="0"/>
          </a:p>
        </p:txBody>
      </p:sp>
      <p:sp>
        <p:nvSpPr>
          <p:cNvPr id="16" name="lib_6"/>
          <p:cNvSpPr/>
          <p:nvPr/>
        </p:nvSpPr>
        <p:spPr>
          <a:xfrm>
            <a:off x="457200" y="2423160"/>
            <a:ext cx="1161288" cy="347472"/>
          </a:xfrm>
          <a:prstGeom prst="roundRect">
            <a:avLst>
              <a:gd name="adj" fmla="val 21053"/>
            </a:avLst>
          </a:prstGeom>
          <a:solidFill>
            <a:schemeClr val="accent6"/>
          </a:solidFill>
          <a:ln/>
        </p:spPr>
      </p:sp>
      <p:sp>
        <p:nvSpPr>
          <p:cNvPr id="17" name="lib_text_6"/>
          <p:cNvSpPr txBox="1"/>
          <p:nvPr/>
        </p:nvSpPr>
        <p:spPr>
          <a:xfrm>
            <a:off x="457200" y="2423160"/>
            <a:ext cx="1161288" cy="347472"/>
          </a:xfrm>
          <a:prstGeom prst="rect">
            <a:avLst/>
          </a:prstGeom>
          <a:noFill/>
          <a:ln/>
        </p:spPr>
        <p:txBody>
          <a:bodyPr wrap="square" lIns="0" tIns="0" rIns="0" bIns="0" rtlCol="0" anchor="ctr"/>
          <a:lstStyle/>
          <a:p>
            <a:pPr algn="ctr" indent="0" marL="0">
              <a:buNone/>
            </a:pPr>
            <a:r>
              <a:rPr lang="en-US" sz="1100" dirty="0">
                <a:solidFill>
                  <a:schemeClr val="tx1"/>
                </a:solidFill>
              </a:rPr>
              <a:t>tenacity</a:t>
            </a:r>
            <a:endParaRPr lang="en-US" sz="1100" dirty="0"/>
          </a:p>
        </p:txBody>
      </p:sp>
      <p:sp>
        <p:nvSpPr>
          <p:cNvPr id="18" name="lib_7"/>
          <p:cNvSpPr/>
          <p:nvPr/>
        </p:nvSpPr>
        <p:spPr>
          <a:xfrm>
            <a:off x="1709928" y="2423160"/>
            <a:ext cx="1161288" cy="347472"/>
          </a:xfrm>
          <a:prstGeom prst="roundRect">
            <a:avLst>
              <a:gd name="adj" fmla="val 21053"/>
            </a:avLst>
          </a:prstGeom>
          <a:solidFill>
            <a:schemeClr val="accent6"/>
          </a:solidFill>
          <a:ln/>
        </p:spPr>
      </p:sp>
      <p:sp>
        <p:nvSpPr>
          <p:cNvPr id="19" name="lib_text_7"/>
          <p:cNvSpPr txBox="1"/>
          <p:nvPr/>
        </p:nvSpPr>
        <p:spPr>
          <a:xfrm>
            <a:off x="1709928" y="2423160"/>
            <a:ext cx="1161288" cy="347472"/>
          </a:xfrm>
          <a:prstGeom prst="rect">
            <a:avLst/>
          </a:prstGeom>
          <a:noFill/>
          <a:ln/>
        </p:spPr>
        <p:txBody>
          <a:bodyPr wrap="square" lIns="0" tIns="0" rIns="0" bIns="0" rtlCol="0" anchor="ctr"/>
          <a:lstStyle/>
          <a:p>
            <a:pPr algn="ctr" indent="0" marL="0">
              <a:buNone/>
            </a:pPr>
            <a:r>
              <a:rPr lang="en-US" sz="1100" dirty="0">
                <a:solidFill>
                  <a:schemeClr val="tx1"/>
                </a:solidFill>
              </a:rPr>
              <a:t>filelock</a:t>
            </a:r>
            <a:endParaRPr lang="en-US" sz="1100" dirty="0"/>
          </a:p>
        </p:txBody>
      </p:sp>
      <p:sp>
        <p:nvSpPr>
          <p:cNvPr id="20" name="lib_8"/>
          <p:cNvSpPr/>
          <p:nvPr/>
        </p:nvSpPr>
        <p:spPr>
          <a:xfrm>
            <a:off x="2962656" y="2423160"/>
            <a:ext cx="1161288" cy="347472"/>
          </a:xfrm>
          <a:prstGeom prst="roundRect">
            <a:avLst>
              <a:gd name="adj" fmla="val 21053"/>
            </a:avLst>
          </a:prstGeom>
          <a:solidFill>
            <a:schemeClr val="accent6"/>
          </a:solidFill>
          <a:ln/>
        </p:spPr>
      </p:sp>
      <p:sp>
        <p:nvSpPr>
          <p:cNvPr id="21" name="lib_text_8"/>
          <p:cNvSpPr txBox="1"/>
          <p:nvPr/>
        </p:nvSpPr>
        <p:spPr>
          <a:xfrm>
            <a:off x="2962656" y="2423160"/>
            <a:ext cx="1161288" cy="347472"/>
          </a:xfrm>
          <a:prstGeom prst="rect">
            <a:avLst/>
          </a:prstGeom>
          <a:noFill/>
          <a:ln/>
        </p:spPr>
        <p:txBody>
          <a:bodyPr wrap="square" lIns="0" tIns="0" rIns="0" bIns="0" rtlCol="0" anchor="ctr"/>
          <a:lstStyle/>
          <a:p>
            <a:pPr algn="ctr" indent="0" marL="0">
              <a:buNone/>
            </a:pPr>
            <a:r>
              <a:rPr lang="en-US" sz="1100" dirty="0">
                <a:solidFill>
                  <a:schemeClr val="tx1"/>
                </a:solidFill>
              </a:rPr>
              <a:t>boltons</a:t>
            </a:r>
            <a:endParaRPr lang="en-US" sz="1100" dirty="0"/>
          </a:p>
        </p:txBody>
      </p:sp>
      <p:sp>
        <p:nvSpPr>
          <p:cNvPr id="22" name="lib_9"/>
          <p:cNvSpPr/>
          <p:nvPr/>
        </p:nvSpPr>
        <p:spPr>
          <a:xfrm>
            <a:off x="457200" y="2880360"/>
            <a:ext cx="1161288" cy="347472"/>
          </a:xfrm>
          <a:prstGeom prst="roundRect">
            <a:avLst>
              <a:gd name="adj" fmla="val 21053"/>
            </a:avLst>
          </a:prstGeom>
          <a:solidFill>
            <a:schemeClr val="accent6"/>
          </a:solidFill>
          <a:ln/>
        </p:spPr>
      </p:sp>
      <p:sp>
        <p:nvSpPr>
          <p:cNvPr id="23" name="lib_text_9"/>
          <p:cNvSpPr txBox="1"/>
          <p:nvPr/>
        </p:nvSpPr>
        <p:spPr>
          <a:xfrm>
            <a:off x="457200" y="2880360"/>
            <a:ext cx="1161288" cy="347472"/>
          </a:xfrm>
          <a:prstGeom prst="rect">
            <a:avLst/>
          </a:prstGeom>
          <a:noFill/>
          <a:ln/>
        </p:spPr>
        <p:txBody>
          <a:bodyPr wrap="square" lIns="0" tIns="0" rIns="0" bIns="0" rtlCol="0" anchor="ctr"/>
          <a:lstStyle/>
          <a:p>
            <a:pPr algn="ctr" indent="0" marL="0">
              <a:buNone/>
            </a:pPr>
            <a:r>
              <a:rPr lang="en-US" sz="1100" dirty="0">
                <a:solidFill>
                  <a:schemeClr val="tx1"/>
                </a:solidFill>
              </a:rPr>
              <a:t>more-itertools</a:t>
            </a:r>
            <a:endParaRPr lang="en-US" sz="1100" dirty="0"/>
          </a:p>
        </p:txBody>
      </p:sp>
      <p:sp>
        <p:nvSpPr>
          <p:cNvPr id="24" name="lib_10"/>
          <p:cNvSpPr/>
          <p:nvPr/>
        </p:nvSpPr>
        <p:spPr>
          <a:xfrm>
            <a:off x="1709928" y="2880360"/>
            <a:ext cx="1161288" cy="347472"/>
          </a:xfrm>
          <a:prstGeom prst="roundRect">
            <a:avLst>
              <a:gd name="adj" fmla="val 21053"/>
            </a:avLst>
          </a:prstGeom>
          <a:solidFill>
            <a:schemeClr val="accent6"/>
          </a:solidFill>
          <a:ln/>
        </p:spPr>
      </p:sp>
      <p:sp>
        <p:nvSpPr>
          <p:cNvPr id="25" name="lib_text_10"/>
          <p:cNvSpPr txBox="1"/>
          <p:nvPr/>
        </p:nvSpPr>
        <p:spPr>
          <a:xfrm>
            <a:off x="1709928" y="2880360"/>
            <a:ext cx="1161288" cy="347472"/>
          </a:xfrm>
          <a:prstGeom prst="rect">
            <a:avLst/>
          </a:prstGeom>
          <a:noFill/>
          <a:ln/>
        </p:spPr>
        <p:txBody>
          <a:bodyPr wrap="square" lIns="0" tIns="0" rIns="0" bIns="0" rtlCol="0" anchor="ctr"/>
          <a:lstStyle/>
          <a:p>
            <a:pPr algn="ctr" indent="0" marL="0">
              <a:buNone/>
            </a:pPr>
            <a:r>
              <a:rPr lang="en-US" sz="1100" dirty="0">
                <a:solidFill>
                  <a:schemeClr val="tx1"/>
                </a:solidFill>
              </a:rPr>
              <a:t>arrow</a:t>
            </a:r>
            <a:endParaRPr lang="en-US" sz="1100" dirty="0"/>
          </a:p>
        </p:txBody>
      </p:sp>
      <p:sp>
        <p:nvSpPr>
          <p:cNvPr id="26" name="lib_11"/>
          <p:cNvSpPr/>
          <p:nvPr/>
        </p:nvSpPr>
        <p:spPr>
          <a:xfrm>
            <a:off x="2962656" y="2880360"/>
            <a:ext cx="1161288" cy="347472"/>
          </a:xfrm>
          <a:prstGeom prst="roundRect">
            <a:avLst>
              <a:gd name="adj" fmla="val 21053"/>
            </a:avLst>
          </a:prstGeom>
          <a:solidFill>
            <a:schemeClr val="accent6"/>
          </a:solidFill>
          <a:ln/>
        </p:spPr>
      </p:sp>
      <p:sp>
        <p:nvSpPr>
          <p:cNvPr id="27" name="lib_text_11"/>
          <p:cNvSpPr txBox="1"/>
          <p:nvPr/>
        </p:nvSpPr>
        <p:spPr>
          <a:xfrm>
            <a:off x="2962656" y="2880360"/>
            <a:ext cx="1161288" cy="347472"/>
          </a:xfrm>
          <a:prstGeom prst="rect">
            <a:avLst/>
          </a:prstGeom>
          <a:noFill/>
          <a:ln/>
        </p:spPr>
        <p:txBody>
          <a:bodyPr wrap="square" lIns="0" tIns="0" rIns="0" bIns="0" rtlCol="0" anchor="ctr"/>
          <a:lstStyle/>
          <a:p>
            <a:pPr algn="ctr" indent="0" marL="0">
              <a:buNone/>
            </a:pPr>
            <a:r>
              <a:rPr lang="en-US" sz="1100" dirty="0">
                <a:solidFill>
                  <a:schemeClr val="tx1"/>
                </a:solidFill>
              </a:rPr>
              <a:t>pybreaker</a:t>
            </a:r>
            <a:endParaRPr lang="en-US" sz="1100" dirty="0"/>
          </a:p>
        </p:txBody>
      </p:sp>
      <p:sp>
        <p:nvSpPr>
          <p:cNvPr id="28" name="libs_note"/>
          <p:cNvSpPr txBox="1"/>
          <p:nvPr/>
        </p:nvSpPr>
        <p:spPr>
          <a:xfrm>
            <a:off x="457200" y="3383280"/>
            <a:ext cx="3657600" cy="457200"/>
          </a:xfrm>
          <a:prstGeom prst="rect">
            <a:avLst/>
          </a:prstGeom>
          <a:noFill/>
          <a:ln/>
        </p:spPr>
        <p:txBody>
          <a:bodyPr wrap="square" lIns="0" tIns="0" rIns="0" bIns="0" rtlCol="0" anchor="ctr"/>
          <a:lstStyle/>
          <a:p>
            <a:pPr indent="0" marL="0">
              <a:buNone/>
            </a:pPr>
            <a:r>
              <a:rPr lang="en-US" sz="1100" i="1" dirty="0">
                <a:solidFill>
                  <a:schemeClr val="accent4"/>
                </a:solidFill>
              </a:rPr>
              <a:t>Tan ones use time, randomness, threads, or files, which is where flaky tests usually come from.</a:t>
            </a:r>
            <a:endParaRPr lang="en-US" sz="1100" dirty="0"/>
          </a:p>
        </p:txBody>
      </p:sp>
      <p:sp>
        <p:nvSpPr>
          <p:cNvPr id="29" name="conds_header"/>
          <p:cNvSpPr txBox="1"/>
          <p:nvPr/>
        </p:nvSpPr>
        <p:spPr>
          <a:xfrm>
            <a:off x="4572000" y="1097280"/>
            <a:ext cx="4114800" cy="320040"/>
          </a:xfrm>
          <a:prstGeom prst="rect">
            <a:avLst/>
          </a:prstGeom>
          <a:noFill/>
          <a:ln/>
        </p:spPr>
        <p:txBody>
          <a:bodyPr wrap="square" lIns="0" tIns="0" rIns="0" bIns="0" rtlCol="0" anchor="ctr"/>
          <a:lstStyle/>
          <a:p>
            <a:pPr indent="0" marL="0">
              <a:buNone/>
            </a:pPr>
            <a:r>
              <a:rPr lang="en-US" sz="1600" b="1" dirty="0">
                <a:solidFill>
                  <a:schemeClr val="tx1"/>
                </a:solidFill>
              </a:rPr>
              <a:t>4 test suites per library</a:t>
            </a:r>
            <a:endParaRPr lang="en-US" sz="1600" dirty="0"/>
          </a:p>
        </p:txBody>
      </p:sp>
      <p:sp>
        <p:nvSpPr>
          <p:cNvPr id="30" name="cond_circle_0"/>
          <p:cNvSpPr/>
          <p:nvPr/>
        </p:nvSpPr>
        <p:spPr>
          <a:xfrm>
            <a:off x="4572000" y="1508760"/>
            <a:ext cx="365760" cy="365760"/>
          </a:xfrm>
          <a:prstGeom prst="ellipse">
            <a:avLst/>
          </a:prstGeom>
          <a:solidFill>
            <a:schemeClr val="tx1"/>
          </a:solidFill>
          <a:ln/>
        </p:spPr>
      </p:sp>
      <p:pic>
        <p:nvPicPr>
          <p:cNvPr id="31" name="cond_icon_0" descr="preencoded.png">    </p:cNvPr>
          <p:cNvPicPr>
            <a:picLocks noChangeAspect="1"/>
          </p:cNvPicPr>
          <p:nvPr/>
        </p:nvPicPr>
        <p:blipFill>
          <a:blip r:embed="rId1"/>
          <a:stretch>
            <a:fillRect/>
          </a:stretch>
        </p:blipFill>
        <p:spPr>
          <a:xfrm>
            <a:off x="4654296" y="1591056"/>
            <a:ext cx="201168" cy="201168"/>
          </a:xfrm>
          <a:prstGeom prst="rect">
            <a:avLst/>
          </a:prstGeom>
        </p:spPr>
      </p:pic>
      <p:sp>
        <p:nvSpPr>
          <p:cNvPr id="32" name="cond_text_0"/>
          <p:cNvSpPr txBox="1"/>
          <p:nvPr/>
        </p:nvSpPr>
        <p:spPr>
          <a:xfrm>
            <a:off x="5074920" y="1463040"/>
            <a:ext cx="3611880" cy="457200"/>
          </a:xfrm>
          <a:prstGeom prst="rect">
            <a:avLst/>
          </a:prstGeom>
          <a:noFill/>
          <a:ln/>
        </p:spPr>
        <p:txBody>
          <a:bodyPr wrap="square" lIns="0" tIns="0" rIns="0" bIns="0" rtlCol="0" anchor="ctr"/>
          <a:lstStyle/>
          <a:p>
            <a:pPr indent="0" marL="0">
              <a:buNone/>
            </a:pPr>
            <a:r>
              <a:rPr lang="en-US" sz="1300" b="1" dirty="0">
                <a:solidFill>
                  <a:schemeClr val="tx1"/>
                </a:solidFill>
              </a:rPr>
              <a:t>Human</a:t>
            </a:r>
            <a:endParaRPr lang="en-US" sz="1300" dirty="0"/>
          </a:p>
          <a:p>
            <a:pPr indent="0" marL="0">
              <a:buNone/>
            </a:pPr>
            <a:r>
              <a:rPr lang="en-US" sz="1100" dirty="0">
                <a:solidFill>
                  <a:schemeClr val="accent4"/>
                </a:solidFill>
              </a:rPr>
              <a:t>the library's own test suite</a:t>
            </a:r>
            <a:endParaRPr lang="en-US" sz="1300" dirty="0"/>
          </a:p>
        </p:txBody>
      </p:sp>
      <p:sp>
        <p:nvSpPr>
          <p:cNvPr id="33" name="cond_circle_1"/>
          <p:cNvSpPr/>
          <p:nvPr/>
        </p:nvSpPr>
        <p:spPr>
          <a:xfrm>
            <a:off x="4572000" y="1984248"/>
            <a:ext cx="365760" cy="365760"/>
          </a:xfrm>
          <a:prstGeom prst="ellipse">
            <a:avLst/>
          </a:prstGeom>
          <a:solidFill>
            <a:schemeClr val="tx1"/>
          </a:solidFill>
          <a:ln/>
        </p:spPr>
      </p:sp>
      <p:pic>
        <p:nvPicPr>
          <p:cNvPr id="34" name="cond_icon_1" descr="preencoded.png">    </p:cNvPr>
          <p:cNvPicPr>
            <a:picLocks noChangeAspect="1"/>
          </p:cNvPicPr>
          <p:nvPr/>
        </p:nvPicPr>
        <p:blipFill>
          <a:blip r:embed="rId2"/>
          <a:stretch>
            <a:fillRect/>
          </a:stretch>
        </p:blipFill>
        <p:spPr>
          <a:xfrm>
            <a:off x="4654296" y="2066544"/>
            <a:ext cx="201168" cy="201168"/>
          </a:xfrm>
          <a:prstGeom prst="rect">
            <a:avLst/>
          </a:prstGeom>
        </p:spPr>
      </p:pic>
      <p:sp>
        <p:nvSpPr>
          <p:cNvPr id="35" name="cond_text_1"/>
          <p:cNvSpPr txBox="1"/>
          <p:nvPr/>
        </p:nvSpPr>
        <p:spPr>
          <a:xfrm>
            <a:off x="5074920" y="1938528"/>
            <a:ext cx="3611880" cy="457200"/>
          </a:xfrm>
          <a:prstGeom prst="rect">
            <a:avLst/>
          </a:prstGeom>
          <a:noFill/>
          <a:ln/>
        </p:spPr>
        <p:txBody>
          <a:bodyPr wrap="square" lIns="0" tIns="0" rIns="0" bIns="0" rtlCol="0" anchor="ctr"/>
          <a:lstStyle/>
          <a:p>
            <a:pPr indent="0" marL="0">
              <a:buNone/>
            </a:pPr>
            <a:r>
              <a:rPr lang="en-US" sz="1300" b="1" dirty="0">
                <a:solidFill>
                  <a:schemeClr val="tx1"/>
                </a:solidFill>
              </a:rPr>
              <a:t>Agentic Sonnet</a:t>
            </a:r>
            <a:endParaRPr lang="en-US" sz="1300" dirty="0"/>
          </a:p>
          <a:p>
            <a:pPr indent="0" marL="0">
              <a:buNone/>
            </a:pPr>
            <a:r>
              <a:rPr lang="en-US" sz="1100" dirty="0">
                <a:solidFill>
                  <a:schemeClr val="accent4"/>
                </a:solidFill>
              </a:rPr>
              <a:t>runs its tests and fixes failures</a:t>
            </a:r>
            <a:endParaRPr lang="en-US" sz="1300" dirty="0"/>
          </a:p>
        </p:txBody>
      </p:sp>
      <p:sp>
        <p:nvSpPr>
          <p:cNvPr id="36" name="cond_circle_2"/>
          <p:cNvSpPr/>
          <p:nvPr/>
        </p:nvSpPr>
        <p:spPr>
          <a:xfrm>
            <a:off x="4572000" y="2459736"/>
            <a:ext cx="365760" cy="365760"/>
          </a:xfrm>
          <a:prstGeom prst="ellipse">
            <a:avLst/>
          </a:prstGeom>
          <a:solidFill>
            <a:schemeClr val="tx1"/>
          </a:solidFill>
          <a:ln/>
        </p:spPr>
      </p:sp>
      <p:pic>
        <p:nvPicPr>
          <p:cNvPr id="37" name="cond_icon_2" descr="preencoded.png">    </p:cNvPr>
          <p:cNvPicPr>
            <a:picLocks noChangeAspect="1"/>
          </p:cNvPicPr>
          <p:nvPr/>
        </p:nvPicPr>
        <p:blipFill>
          <a:blip r:embed="rId3"/>
          <a:stretch>
            <a:fillRect/>
          </a:stretch>
        </p:blipFill>
        <p:spPr>
          <a:xfrm>
            <a:off x="4654296" y="2542032"/>
            <a:ext cx="201168" cy="201168"/>
          </a:xfrm>
          <a:prstGeom prst="rect">
            <a:avLst/>
          </a:prstGeom>
        </p:spPr>
      </p:pic>
      <p:sp>
        <p:nvSpPr>
          <p:cNvPr id="38" name="cond_text_2"/>
          <p:cNvSpPr txBox="1"/>
          <p:nvPr/>
        </p:nvSpPr>
        <p:spPr>
          <a:xfrm>
            <a:off x="5074920" y="2414016"/>
            <a:ext cx="3611880" cy="457200"/>
          </a:xfrm>
          <a:prstGeom prst="rect">
            <a:avLst/>
          </a:prstGeom>
          <a:noFill/>
          <a:ln/>
        </p:spPr>
        <p:txBody>
          <a:bodyPr wrap="square" lIns="0" tIns="0" rIns="0" bIns="0" rtlCol="0" anchor="ctr"/>
          <a:lstStyle/>
          <a:p>
            <a:pPr indent="0" marL="0">
              <a:buNone/>
            </a:pPr>
            <a:r>
              <a:rPr lang="en-US" sz="1300" b="1" dirty="0">
                <a:solidFill>
                  <a:schemeClr val="tx1"/>
                </a:solidFill>
              </a:rPr>
              <a:t>One shot Sonnet</a:t>
            </a:r>
            <a:endParaRPr lang="en-US" sz="1300" dirty="0"/>
          </a:p>
          <a:p>
            <a:pPr indent="0" marL="0">
              <a:buNone/>
            </a:pPr>
            <a:r>
              <a:rPr lang="en-US" sz="1100" dirty="0">
                <a:solidFill>
                  <a:schemeClr val="accent4"/>
                </a:solidFill>
              </a:rPr>
              <a:t>writes tests, never runs them</a:t>
            </a:r>
            <a:endParaRPr lang="en-US" sz="1300" dirty="0"/>
          </a:p>
        </p:txBody>
      </p:sp>
      <p:sp>
        <p:nvSpPr>
          <p:cNvPr id="39" name="cond_circle_3"/>
          <p:cNvSpPr/>
          <p:nvPr/>
        </p:nvSpPr>
        <p:spPr>
          <a:xfrm>
            <a:off x="4572000" y="2935224"/>
            <a:ext cx="365760" cy="365760"/>
          </a:xfrm>
          <a:prstGeom prst="ellipse">
            <a:avLst/>
          </a:prstGeom>
          <a:solidFill>
            <a:schemeClr val="tx1"/>
          </a:solidFill>
          <a:ln/>
        </p:spPr>
      </p:sp>
      <p:pic>
        <p:nvPicPr>
          <p:cNvPr id="40" name="cond_icon_3" descr="preencoded.png">    </p:cNvPr>
          <p:cNvPicPr>
            <a:picLocks noChangeAspect="1"/>
          </p:cNvPicPr>
          <p:nvPr/>
        </p:nvPicPr>
        <p:blipFill>
          <a:blip r:embed="rId4"/>
          <a:stretch>
            <a:fillRect/>
          </a:stretch>
        </p:blipFill>
        <p:spPr>
          <a:xfrm>
            <a:off x="4654296" y="3017520"/>
            <a:ext cx="201168" cy="201168"/>
          </a:xfrm>
          <a:prstGeom prst="rect">
            <a:avLst/>
          </a:prstGeom>
        </p:spPr>
      </p:pic>
      <p:sp>
        <p:nvSpPr>
          <p:cNvPr id="41" name="cond_text_3"/>
          <p:cNvSpPr txBox="1"/>
          <p:nvPr/>
        </p:nvSpPr>
        <p:spPr>
          <a:xfrm>
            <a:off x="5074920" y="2889504"/>
            <a:ext cx="3611880" cy="457200"/>
          </a:xfrm>
          <a:prstGeom prst="rect">
            <a:avLst/>
          </a:prstGeom>
          <a:noFill/>
          <a:ln/>
        </p:spPr>
        <p:txBody>
          <a:bodyPr wrap="square" lIns="0" tIns="0" rIns="0" bIns="0" rtlCol="0" anchor="ctr"/>
          <a:lstStyle/>
          <a:p>
            <a:pPr indent="0" marL="0">
              <a:buNone/>
            </a:pPr>
            <a:r>
              <a:rPr lang="en-US" sz="1300" b="1" dirty="0">
                <a:solidFill>
                  <a:schemeClr val="tx1"/>
                </a:solidFill>
              </a:rPr>
              <a:t>One shot Haiku</a:t>
            </a:r>
            <a:endParaRPr lang="en-US" sz="1300" dirty="0"/>
          </a:p>
          <a:p>
            <a:pPr indent="0" marL="0">
              <a:buNone/>
            </a:pPr>
            <a:r>
              <a:rPr lang="en-US" sz="1100" dirty="0">
                <a:solidFill>
                  <a:schemeClr val="accent4"/>
                </a:solidFill>
              </a:rPr>
              <a:t>same, with a smaller model</a:t>
            </a:r>
            <a:endParaRPr lang="en-US" sz="1300" dirty="0"/>
          </a:p>
        </p:txBody>
      </p:sp>
      <p:sp>
        <p:nvSpPr>
          <p:cNvPr id="42" name="perturb_box"/>
          <p:cNvSpPr/>
          <p:nvPr/>
        </p:nvSpPr>
        <p:spPr>
          <a:xfrm>
            <a:off x="4572000" y="3520440"/>
            <a:ext cx="4114800" cy="868680"/>
          </a:xfrm>
          <a:prstGeom prst="roundRect">
            <a:avLst>
              <a:gd name="adj" fmla="val 10526"/>
            </a:avLst>
          </a:prstGeom>
          <a:solidFill>
            <a:schemeClr val="bg2"/>
          </a:solidFill>
          <a:ln/>
        </p:spPr>
      </p:sp>
      <p:sp>
        <p:nvSpPr>
          <p:cNvPr id="43" name="perturb_header"/>
          <p:cNvSpPr txBox="1"/>
          <p:nvPr/>
        </p:nvSpPr>
        <p:spPr>
          <a:xfrm>
            <a:off x="4709160" y="3584448"/>
            <a:ext cx="3840480" cy="274320"/>
          </a:xfrm>
          <a:prstGeom prst="rect">
            <a:avLst/>
          </a:prstGeom>
          <a:noFill/>
          <a:ln/>
        </p:spPr>
        <p:txBody>
          <a:bodyPr wrap="square" lIns="0" tIns="0" rIns="0" bIns="0" rtlCol="0" anchor="ctr"/>
          <a:lstStyle/>
          <a:p>
            <a:pPr indent="0" marL="0">
              <a:buNone/>
            </a:pPr>
            <a:r>
              <a:rPr lang="en-US" sz="1200" b="1" dirty="0">
                <a:solidFill>
                  <a:schemeClr val="tx1"/>
                </a:solidFill>
              </a:rPr>
              <a:t>Each suite gets rerun many times with</a:t>
            </a:r>
            <a:endParaRPr lang="en-US" sz="1200" dirty="0"/>
          </a:p>
        </p:txBody>
      </p:sp>
      <p:pic>
        <p:nvPicPr>
          <p:cNvPr id="44" name="pert_icon_0" descr="preencoded.png">    </p:cNvPr>
          <p:cNvPicPr>
            <a:picLocks noChangeAspect="1"/>
          </p:cNvPicPr>
          <p:nvPr/>
        </p:nvPicPr>
        <p:blipFill>
          <a:blip r:embed="rId5"/>
          <a:stretch>
            <a:fillRect/>
          </a:stretch>
        </p:blipFill>
        <p:spPr>
          <a:xfrm>
            <a:off x="4709160" y="3931920"/>
            <a:ext cx="256032" cy="256032"/>
          </a:xfrm>
          <a:prstGeom prst="rect">
            <a:avLst/>
          </a:prstGeom>
        </p:spPr>
      </p:pic>
      <p:sp>
        <p:nvSpPr>
          <p:cNvPr id="45" name="pert_text_0"/>
          <p:cNvSpPr txBox="1"/>
          <p:nvPr/>
        </p:nvSpPr>
        <p:spPr>
          <a:xfrm>
            <a:off x="5020056" y="3858768"/>
            <a:ext cx="987552" cy="621792"/>
          </a:xfrm>
          <a:prstGeom prst="rect">
            <a:avLst/>
          </a:prstGeom>
          <a:noFill/>
          <a:ln/>
        </p:spPr>
        <p:txBody>
          <a:bodyPr wrap="square" lIns="0" tIns="0" rIns="0" bIns="0" rtlCol="0" anchor="t"/>
          <a:lstStyle/>
          <a:p>
            <a:pPr indent="0" marL="0">
              <a:buNone/>
            </a:pPr>
            <a:r>
              <a:rPr lang="en-US" sz="1000" dirty="0">
                <a:solidFill>
                  <a:schemeClr val="tx1"/>
                </a:solidFill>
              </a:rPr>
              <a:t>random order and hash seed</a:t>
            </a:r>
            <a:endParaRPr lang="en-US" sz="1000" dirty="0"/>
          </a:p>
        </p:txBody>
      </p:sp>
      <p:pic>
        <p:nvPicPr>
          <p:cNvPr id="46" name="pert_icon_1" descr="preencoded.png">    </p:cNvPr>
          <p:cNvPicPr>
            <a:picLocks noChangeAspect="1"/>
          </p:cNvPicPr>
          <p:nvPr/>
        </p:nvPicPr>
        <p:blipFill>
          <a:blip r:embed="rId6"/>
          <a:stretch>
            <a:fillRect/>
          </a:stretch>
        </p:blipFill>
        <p:spPr>
          <a:xfrm>
            <a:off x="6035040" y="3931920"/>
            <a:ext cx="256032" cy="256032"/>
          </a:xfrm>
          <a:prstGeom prst="rect">
            <a:avLst/>
          </a:prstGeom>
        </p:spPr>
      </p:pic>
      <p:sp>
        <p:nvSpPr>
          <p:cNvPr id="47" name="pert_text_1"/>
          <p:cNvSpPr txBox="1"/>
          <p:nvPr/>
        </p:nvSpPr>
        <p:spPr>
          <a:xfrm>
            <a:off x="6345936" y="3858768"/>
            <a:ext cx="987552" cy="621792"/>
          </a:xfrm>
          <a:prstGeom prst="rect">
            <a:avLst/>
          </a:prstGeom>
          <a:noFill/>
          <a:ln/>
        </p:spPr>
        <p:txBody>
          <a:bodyPr wrap="square" lIns="0" tIns="0" rIns="0" bIns="0" rtlCol="0" anchor="t"/>
          <a:lstStyle/>
          <a:p>
            <a:pPr indent="0" marL="0">
              <a:buNone/>
            </a:pPr>
            <a:r>
              <a:rPr lang="en-US" sz="1000" dirty="0">
                <a:solidFill>
                  <a:schemeClr val="tx1"/>
                </a:solidFill>
              </a:rPr>
              <a:t>10 time zones</a:t>
            </a:r>
            <a:endParaRPr lang="en-US" sz="1000" dirty="0"/>
          </a:p>
        </p:txBody>
      </p:sp>
      <p:pic>
        <p:nvPicPr>
          <p:cNvPr id="48" name="pert_icon_2" descr="preencoded.png">    </p:cNvPr>
          <p:cNvPicPr>
            <a:picLocks noChangeAspect="1"/>
          </p:cNvPicPr>
          <p:nvPr/>
        </p:nvPicPr>
        <p:blipFill>
          <a:blip r:embed="rId7"/>
          <a:stretch>
            <a:fillRect/>
          </a:stretch>
        </p:blipFill>
        <p:spPr>
          <a:xfrm>
            <a:off x="7360920" y="3931920"/>
            <a:ext cx="256032" cy="256032"/>
          </a:xfrm>
          <a:prstGeom prst="rect">
            <a:avLst/>
          </a:prstGeom>
        </p:spPr>
      </p:pic>
      <p:sp>
        <p:nvSpPr>
          <p:cNvPr id="49" name="pert_text_2"/>
          <p:cNvSpPr txBox="1"/>
          <p:nvPr/>
        </p:nvSpPr>
        <p:spPr>
          <a:xfrm>
            <a:off x="7671816" y="3858768"/>
            <a:ext cx="987552" cy="621792"/>
          </a:xfrm>
          <a:prstGeom prst="rect">
            <a:avLst/>
          </a:prstGeom>
          <a:noFill/>
          <a:ln/>
        </p:spPr>
        <p:txBody>
          <a:bodyPr wrap="square" lIns="0" tIns="0" rIns="0" bIns="0" rtlCol="0" anchor="t"/>
          <a:lstStyle/>
          <a:p>
            <a:pPr indent="0" marL="0">
              <a:buNone/>
            </a:pPr>
            <a:r>
              <a:rPr lang="en-US" sz="1000" dirty="0">
                <a:solidFill>
                  <a:schemeClr val="tx1"/>
                </a:solidFill>
              </a:rPr>
              <a:t>CPU stress on every core</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rPr>
              <a:t>What a small pilot found</a:t>
            </a:r>
            <a:endParaRPr lang="en-US" sz="3000" dirty="0"/>
          </a:p>
        </p:txBody>
      </p:sp>
      <p:sp>
        <p:nvSpPr>
          <p:cNvPr id="3" name="hero_box"/>
          <p:cNvSpPr/>
          <p:nvPr/>
        </p:nvSpPr>
        <p:spPr>
          <a:xfrm>
            <a:off x="457200" y="1097280"/>
            <a:ext cx="4206240" cy="3429000"/>
          </a:xfrm>
          <a:prstGeom prst="roundRect">
            <a:avLst>
              <a:gd name="adj" fmla="val 3200"/>
            </a:avLst>
          </a:prstGeom>
          <a:solidFill>
            <a:schemeClr val="tx1"/>
          </a:solidFill>
          <a:ln/>
        </p:spPr>
      </p:sp>
      <p:sp>
        <p:nvSpPr>
          <p:cNvPr id="4" name="hero_title"/>
          <p:cNvSpPr txBox="1"/>
          <p:nvPr/>
        </p:nvSpPr>
        <p:spPr>
          <a:xfrm>
            <a:off x="685800" y="1280160"/>
            <a:ext cx="3749040" cy="73152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A test that only fails after 10 PM</a:t>
            </a:r>
            <a:endParaRPr lang="en-US" sz="2200" dirty="0"/>
          </a:p>
        </p:txBody>
      </p:sp>
      <p:sp>
        <p:nvSpPr>
          <p:cNvPr id="5" name="hero_code"/>
          <p:cNvSpPr txBox="1"/>
          <p:nvPr/>
        </p:nvSpPr>
        <p:spPr>
          <a:xfrm>
            <a:off x="685800" y="2103120"/>
            <a:ext cx="3749040" cy="640080"/>
          </a:xfrm>
          <a:prstGeom prst="rect">
            <a:avLst/>
          </a:prstGeom>
          <a:noFill/>
          <a:ln/>
        </p:spPr>
        <p:txBody>
          <a:bodyPr wrap="square" lIns="0" tIns="0" rIns="0" bIns="0" rtlCol="0" anchor="t"/>
          <a:lstStyle/>
          <a:p>
            <a:pPr indent="0" marL="0">
              <a:buNone/>
            </a:pPr>
            <a:r>
              <a:rPr lang="en-US" sz="1300" dirty="0">
                <a:solidFill>
                  <a:schemeClr val="bg1"/>
                </a:solidFill>
                <a:latin typeface="Courier New" pitchFamily="34" charset="0"/>
                <a:ea typeface="Courier New" pitchFamily="34" charset="-122"/>
                <a:cs typeface="Courier New" pitchFamily="34" charset="-120"/>
              </a:rPr>
              <a:t>t = now() + 2 hours</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job.until(t.strftime("%H:%M:%S"))</a:t>
            </a:r>
            <a:endParaRPr lang="en-US" sz="1300" dirty="0"/>
          </a:p>
        </p:txBody>
      </p:sp>
      <p:sp>
        <p:nvSpPr>
          <p:cNvPr id="6" name="hero_body"/>
          <p:cNvSpPr txBox="1"/>
          <p:nvPr/>
        </p:nvSpPr>
        <p:spPr>
          <a:xfrm>
            <a:off x="685800" y="2880360"/>
            <a:ext cx="3749040" cy="1463040"/>
          </a:xfrm>
          <a:prstGeom prst="rect">
            <a:avLst/>
          </a:prstGeom>
          <a:noFill/>
          <a:ln/>
        </p:spPr>
        <p:txBody>
          <a:bodyPr wrap="square" lIns="0" tIns="0" rIns="0" bIns="0" rtlCol="0" anchor="t"/>
          <a:lstStyle/>
          <a:p>
            <a:pPr indent="0" marL="0">
              <a:buNone/>
            </a:pPr>
            <a:r>
              <a:rPr lang="en-US" sz="1300" dirty="0">
                <a:solidFill>
                  <a:schemeClr val="bg2"/>
                </a:solidFill>
              </a:rPr>
              <a:t>After 10 PM that clock time lands earlier today, so the library rejects it as a time in the past. An LLM wrote it, and it passed the one run that would decide if it gets kept.</a:t>
            </a:r>
            <a:endParaRPr lang="en-US" sz="1300" dirty="0"/>
          </a:p>
        </p:txBody>
      </p:sp>
      <p:sp>
        <p:nvSpPr>
          <p:cNvPr id="7" name="ex_card_0"/>
          <p:cNvSpPr/>
          <p:nvPr/>
        </p:nvSpPr>
        <p:spPr>
          <a:xfrm>
            <a:off x="4937760" y="1097280"/>
            <a:ext cx="3749040" cy="1005840"/>
          </a:xfrm>
          <a:prstGeom prst="roundRect">
            <a:avLst>
              <a:gd name="adj" fmla="val 9091"/>
            </a:avLst>
          </a:prstGeom>
          <a:solidFill>
            <a:schemeClr val="bg2"/>
          </a:solidFill>
          <a:ln/>
        </p:spPr>
      </p:sp>
      <p:sp>
        <p:nvSpPr>
          <p:cNvPr id="8" name="ex_circle_0"/>
          <p:cNvSpPr/>
          <p:nvPr/>
        </p:nvSpPr>
        <p:spPr>
          <a:xfrm>
            <a:off x="5102352" y="1261872"/>
            <a:ext cx="384048" cy="384048"/>
          </a:xfrm>
          <a:prstGeom prst="ellipse">
            <a:avLst/>
          </a:prstGeom>
          <a:solidFill>
            <a:schemeClr val="accent1"/>
          </a:solidFill>
          <a:ln/>
        </p:spPr>
      </p:sp>
      <p:pic>
        <p:nvPicPr>
          <p:cNvPr id="9" name="ex_icon_0" descr="preencoded.png">    </p:cNvPr>
          <p:cNvPicPr>
            <a:picLocks noChangeAspect="1"/>
          </p:cNvPicPr>
          <p:nvPr/>
        </p:nvPicPr>
        <p:blipFill>
          <a:blip r:embed="rId1"/>
          <a:stretch>
            <a:fillRect/>
          </a:stretch>
        </p:blipFill>
        <p:spPr>
          <a:xfrm>
            <a:off x="5193792" y="1353312"/>
            <a:ext cx="201168" cy="201168"/>
          </a:xfrm>
          <a:prstGeom prst="rect">
            <a:avLst/>
          </a:prstGeom>
        </p:spPr>
      </p:pic>
      <p:sp>
        <p:nvSpPr>
          <p:cNvPr id="10" name="ex_text_0"/>
          <p:cNvSpPr txBox="1"/>
          <p:nvPr/>
        </p:nvSpPr>
        <p:spPr>
          <a:xfrm>
            <a:off x="5623560" y="1188720"/>
            <a:ext cx="2926080" cy="841248"/>
          </a:xfrm>
          <a:prstGeom prst="rect">
            <a:avLst/>
          </a:prstGeom>
          <a:noFill/>
          <a:ln/>
        </p:spPr>
        <p:txBody>
          <a:bodyPr wrap="square" lIns="0" tIns="0" rIns="0" bIns="0" rtlCol="0" anchor="t"/>
          <a:lstStyle/>
          <a:p>
            <a:pPr indent="0" marL="0">
              <a:buNone/>
            </a:pPr>
            <a:r>
              <a:rPr lang="en-US" sz="1300" b="1" dirty="0">
                <a:solidFill>
                  <a:schemeClr val="tx1"/>
                </a:solidFill>
              </a:rPr>
              <a:t>Random retry delay</a:t>
            </a:r>
            <a:endParaRPr lang="en-US" sz="1300" dirty="0"/>
          </a:p>
          <a:p>
            <a:pPr indent="0" marL="0">
              <a:buNone/>
            </a:pPr>
            <a:r>
              <a:rPr lang="en-US" sz="1100" dirty="0">
                <a:solidFill>
                  <a:schemeClr val="accent4"/>
                </a:solidFill>
              </a:rPr>
              <a:t>Asserts two random retry waits add up to at least 10 ms. Sometimes they do not.</a:t>
            </a:r>
            <a:endParaRPr lang="en-US" sz="1300" dirty="0"/>
          </a:p>
        </p:txBody>
      </p:sp>
      <p:sp>
        <p:nvSpPr>
          <p:cNvPr id="11" name="ex_card_1"/>
          <p:cNvSpPr/>
          <p:nvPr/>
        </p:nvSpPr>
        <p:spPr>
          <a:xfrm>
            <a:off x="4937760" y="2267712"/>
            <a:ext cx="3749040" cy="1005840"/>
          </a:xfrm>
          <a:prstGeom prst="roundRect">
            <a:avLst>
              <a:gd name="adj" fmla="val 9091"/>
            </a:avLst>
          </a:prstGeom>
          <a:solidFill>
            <a:schemeClr val="bg2"/>
          </a:solidFill>
          <a:ln/>
        </p:spPr>
      </p:sp>
      <p:sp>
        <p:nvSpPr>
          <p:cNvPr id="12" name="ex_circle_1"/>
          <p:cNvSpPr/>
          <p:nvPr/>
        </p:nvSpPr>
        <p:spPr>
          <a:xfrm>
            <a:off x="5102352" y="2432304"/>
            <a:ext cx="384048" cy="384048"/>
          </a:xfrm>
          <a:prstGeom prst="ellipse">
            <a:avLst/>
          </a:prstGeom>
          <a:solidFill>
            <a:schemeClr val="accent1"/>
          </a:solidFill>
          <a:ln/>
        </p:spPr>
      </p:sp>
      <p:pic>
        <p:nvPicPr>
          <p:cNvPr id="13" name="ex_icon_1" descr="preencoded.png">    </p:cNvPr>
          <p:cNvPicPr>
            <a:picLocks noChangeAspect="1"/>
          </p:cNvPicPr>
          <p:nvPr/>
        </p:nvPicPr>
        <p:blipFill>
          <a:blip r:embed="rId2"/>
          <a:stretch>
            <a:fillRect/>
          </a:stretch>
        </p:blipFill>
        <p:spPr>
          <a:xfrm>
            <a:off x="5193792" y="2523744"/>
            <a:ext cx="201168" cy="201168"/>
          </a:xfrm>
          <a:prstGeom prst="rect">
            <a:avLst/>
          </a:prstGeom>
        </p:spPr>
      </p:pic>
      <p:sp>
        <p:nvSpPr>
          <p:cNvPr id="14" name="ex_text_1"/>
          <p:cNvSpPr txBox="1"/>
          <p:nvPr/>
        </p:nvSpPr>
        <p:spPr>
          <a:xfrm>
            <a:off x="5623560" y="2359152"/>
            <a:ext cx="2926080" cy="841248"/>
          </a:xfrm>
          <a:prstGeom prst="rect">
            <a:avLst/>
          </a:prstGeom>
          <a:noFill/>
          <a:ln/>
        </p:spPr>
        <p:txBody>
          <a:bodyPr wrap="square" lIns="0" tIns="0" rIns="0" bIns="0" rtlCol="0" anchor="t"/>
          <a:lstStyle/>
          <a:p>
            <a:pPr indent="0" marL="0">
              <a:buNone/>
            </a:pPr>
            <a:r>
              <a:rPr lang="en-US" sz="1300" b="1" dirty="0">
                <a:solidFill>
                  <a:schemeClr val="tx1"/>
                </a:solidFill>
              </a:rPr>
              <a:t>Tight deadline</a:t>
            </a:r>
            <a:endParaRPr lang="en-US" sz="1300" dirty="0"/>
          </a:p>
          <a:p>
            <a:pPr indent="0" marL="0">
              <a:buNone/>
            </a:pPr>
            <a:r>
              <a:rPr lang="en-US" sz="1100" dirty="0">
                <a:solidFill>
                  <a:schemeClr val="accent4"/>
                </a:solidFill>
              </a:rPr>
              <a:t>Expects a retry loop to finish within 120 ms. Breaks when the CPU is busy.</a:t>
            </a:r>
            <a:endParaRPr lang="en-US" sz="1300" dirty="0"/>
          </a:p>
        </p:txBody>
      </p:sp>
      <p:sp>
        <p:nvSpPr>
          <p:cNvPr id="15" name="ex_card_2"/>
          <p:cNvSpPr/>
          <p:nvPr/>
        </p:nvSpPr>
        <p:spPr>
          <a:xfrm>
            <a:off x="4937760" y="3438144"/>
            <a:ext cx="3749040" cy="1005840"/>
          </a:xfrm>
          <a:prstGeom prst="roundRect">
            <a:avLst>
              <a:gd name="adj" fmla="val 9091"/>
            </a:avLst>
          </a:prstGeom>
          <a:solidFill>
            <a:schemeClr val="bg2"/>
          </a:solidFill>
          <a:ln/>
        </p:spPr>
      </p:sp>
      <p:sp>
        <p:nvSpPr>
          <p:cNvPr id="16" name="ex_circle_2"/>
          <p:cNvSpPr/>
          <p:nvPr/>
        </p:nvSpPr>
        <p:spPr>
          <a:xfrm>
            <a:off x="5102352" y="3602736"/>
            <a:ext cx="384048" cy="384048"/>
          </a:xfrm>
          <a:prstGeom prst="ellipse">
            <a:avLst/>
          </a:prstGeom>
          <a:solidFill>
            <a:schemeClr val="accent2"/>
          </a:solidFill>
          <a:ln/>
        </p:spPr>
      </p:sp>
      <p:pic>
        <p:nvPicPr>
          <p:cNvPr id="17" name="ex_icon_2" descr="preencoded.png">    </p:cNvPr>
          <p:cNvPicPr>
            <a:picLocks noChangeAspect="1"/>
          </p:cNvPicPr>
          <p:nvPr/>
        </p:nvPicPr>
        <p:blipFill>
          <a:blip r:embed="rId3"/>
          <a:stretch>
            <a:fillRect/>
          </a:stretch>
        </p:blipFill>
        <p:spPr>
          <a:xfrm>
            <a:off x="5193792" y="3694176"/>
            <a:ext cx="201168" cy="201168"/>
          </a:xfrm>
          <a:prstGeom prst="rect">
            <a:avLst/>
          </a:prstGeom>
        </p:spPr>
      </p:pic>
      <p:sp>
        <p:nvSpPr>
          <p:cNvPr id="18" name="ex_text_2"/>
          <p:cNvSpPr txBox="1"/>
          <p:nvPr/>
        </p:nvSpPr>
        <p:spPr>
          <a:xfrm>
            <a:off x="5623560" y="3529584"/>
            <a:ext cx="2926080" cy="841248"/>
          </a:xfrm>
          <a:prstGeom prst="rect">
            <a:avLst/>
          </a:prstGeom>
          <a:noFill/>
          <a:ln/>
        </p:spPr>
        <p:txBody>
          <a:bodyPr wrap="square" lIns="0" tIns="0" rIns="0" bIns="0" rtlCol="0" anchor="t"/>
          <a:lstStyle/>
          <a:p>
            <a:pPr indent="0" marL="0">
              <a:buNone/>
            </a:pPr>
            <a:r>
              <a:rPr lang="en-US" sz="1300" b="1" dirty="0">
                <a:solidFill>
                  <a:schemeClr val="tx1"/>
                </a:solidFill>
              </a:rPr>
              <a:t>Human tests too</a:t>
            </a:r>
            <a:endParaRPr lang="en-US" sz="1300" dirty="0"/>
          </a:p>
          <a:p>
            <a:pPr indent="0" marL="0">
              <a:buNone/>
            </a:pPr>
            <a:r>
              <a:rPr lang="en-US" sz="1100" dirty="0">
                <a:solidFill>
                  <a:schemeClr val="accent4"/>
                </a:solidFill>
              </a:rPr>
              <a:t>Some human tests only fail in certain orders because an earlier test leaves something global behind.</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bg1"/>
                </a:solidFill>
              </a:rPr>
              <a:t>Next steps and open questions</a:t>
            </a:r>
            <a:endParaRPr lang="en-US" sz="3000" dirty="0"/>
          </a:p>
        </p:txBody>
      </p:sp>
      <p:sp>
        <p:nvSpPr>
          <p:cNvPr id="3" name="plan_card_0"/>
          <p:cNvSpPr/>
          <p:nvPr/>
        </p:nvSpPr>
        <p:spPr>
          <a:xfrm>
            <a:off x="457200" y="1143000"/>
            <a:ext cx="2615184" cy="3108960"/>
          </a:xfrm>
          <a:prstGeom prst="roundRect">
            <a:avLst>
              <a:gd name="adj" fmla="val 4196"/>
            </a:avLst>
          </a:prstGeom>
          <a:solidFill>
            <a:schemeClr val="tx2"/>
          </a:solidFill>
          <a:ln/>
        </p:spPr>
      </p:sp>
      <p:sp>
        <p:nvSpPr>
          <p:cNvPr id="4" name="plan_circle_0"/>
          <p:cNvSpPr/>
          <p:nvPr/>
        </p:nvSpPr>
        <p:spPr>
          <a:xfrm>
            <a:off x="658368" y="1325880"/>
            <a:ext cx="411480" cy="411480"/>
          </a:xfrm>
          <a:prstGeom prst="ellipse">
            <a:avLst/>
          </a:prstGeom>
          <a:solidFill>
            <a:schemeClr val="accent1"/>
          </a:solidFill>
          <a:ln/>
        </p:spPr>
      </p:sp>
      <p:pic>
        <p:nvPicPr>
          <p:cNvPr id="5" name="plan_icon_0" descr="preencoded.png">    </p:cNvPr>
          <p:cNvPicPr>
            <a:picLocks noChangeAspect="1"/>
          </p:cNvPicPr>
          <p:nvPr/>
        </p:nvPicPr>
        <p:blipFill>
          <a:blip r:embed="rId1"/>
          <a:stretch>
            <a:fillRect/>
          </a:stretch>
        </p:blipFill>
        <p:spPr>
          <a:xfrm>
            <a:off x="758952" y="1426464"/>
            <a:ext cx="210312" cy="210312"/>
          </a:xfrm>
          <a:prstGeom prst="rect">
            <a:avLst/>
          </a:prstGeom>
        </p:spPr>
      </p:pic>
      <p:sp>
        <p:nvSpPr>
          <p:cNvPr id="6" name="plan_head_0"/>
          <p:cNvSpPr txBox="1"/>
          <p:nvPr/>
        </p:nvSpPr>
        <p:spPr>
          <a:xfrm>
            <a:off x="658368" y="1828800"/>
            <a:ext cx="2240280" cy="365760"/>
          </a:xfrm>
          <a:prstGeom prst="rect">
            <a:avLst/>
          </a:prstGeom>
          <a:noFill/>
          <a:ln/>
        </p:spPr>
        <p:txBody>
          <a:bodyPr wrap="square" lIns="0" tIns="0" rIns="0" bIns="0" rtlCol="0" anchor="ctr"/>
          <a:lstStyle/>
          <a:p>
            <a:pPr indent="0" marL="0">
              <a:buNone/>
            </a:pPr>
            <a:r>
              <a:rPr lang="en-US" sz="1500" b="1" dirty="0">
                <a:solidFill>
                  <a:schemeClr val="bg1"/>
                </a:solidFill>
              </a:rPr>
              <a:t>How we will evaluate</a:t>
            </a:r>
            <a:endParaRPr lang="en-US" sz="1500" dirty="0"/>
          </a:p>
        </p:txBody>
      </p:sp>
      <p:sp>
        <p:nvSpPr>
          <p:cNvPr id="7" name="plan_body_0"/>
          <p:cNvSpPr txBox="1"/>
          <p:nvPr/>
        </p:nvSpPr>
        <p:spPr>
          <a:xfrm>
            <a:off x="658368" y="2240280"/>
            <a:ext cx="2286000" cy="224028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chemeClr val="bg2"/>
                </a:solidFill>
              </a:rPr>
              <a:t>Flaky rate per suite with confidence intervals</a:t>
            </a:r>
            <a:endParaRPr lang="en-US" sz="1200" dirty="0"/>
          </a:p>
          <a:p>
            <a:pPr marL="342900" indent="-342900">
              <a:spcAft>
                <a:spcPts val="600"/>
              </a:spcAft>
              <a:buSzPct val="100000"/>
              <a:buChar char="•"/>
            </a:pPr>
            <a:r>
              <a:rPr lang="en-US" sz="1200" dirty="0">
                <a:solidFill>
                  <a:schemeClr val="bg2"/>
                </a:solidFill>
              </a:rPr>
              <a:t>Root cause of every flaky test</a:t>
            </a:r>
            <a:endParaRPr lang="en-US" sz="1200" dirty="0"/>
          </a:p>
          <a:p>
            <a:pPr marL="342900" indent="-342900">
              <a:spcAft>
                <a:spcPts val="600"/>
              </a:spcAft>
              <a:buSzPct val="100000"/>
              <a:buChar char="•"/>
            </a:pPr>
            <a:r>
              <a:rPr lang="en-US" sz="1200" dirty="0">
                <a:solidFill>
                  <a:schemeClr val="bg2"/>
                </a:solidFill>
              </a:rPr>
              <a:t>Risk patterns and coverage per suite</a:t>
            </a:r>
            <a:endParaRPr lang="en-US" sz="1200" dirty="0"/>
          </a:p>
          <a:p>
            <a:pPr marL="342900" indent="-342900">
              <a:spcAft>
                <a:spcPts val="600"/>
              </a:spcAft>
              <a:buSzPct val="100000"/>
              <a:buChar char="•"/>
            </a:pPr>
            <a:r>
              <a:rPr lang="en-US" sz="1200" dirty="0">
                <a:solidFill>
                  <a:schemeClr val="bg2"/>
                </a:solidFill>
              </a:rPr>
              <a:t>What a one run filter keeps and throws away</a:t>
            </a:r>
            <a:endParaRPr lang="en-US" sz="1200" dirty="0"/>
          </a:p>
        </p:txBody>
      </p:sp>
      <p:sp>
        <p:nvSpPr>
          <p:cNvPr id="8" name="plan_card_1"/>
          <p:cNvSpPr/>
          <p:nvPr/>
        </p:nvSpPr>
        <p:spPr>
          <a:xfrm>
            <a:off x="3273552" y="1143000"/>
            <a:ext cx="2615184" cy="3108960"/>
          </a:xfrm>
          <a:prstGeom prst="roundRect">
            <a:avLst>
              <a:gd name="adj" fmla="val 4196"/>
            </a:avLst>
          </a:prstGeom>
          <a:solidFill>
            <a:schemeClr val="tx2"/>
          </a:solidFill>
          <a:ln/>
        </p:spPr>
      </p:sp>
      <p:sp>
        <p:nvSpPr>
          <p:cNvPr id="9" name="plan_circle_1"/>
          <p:cNvSpPr/>
          <p:nvPr/>
        </p:nvSpPr>
        <p:spPr>
          <a:xfrm>
            <a:off x="3474720" y="1325880"/>
            <a:ext cx="411480" cy="411480"/>
          </a:xfrm>
          <a:prstGeom prst="ellipse">
            <a:avLst/>
          </a:prstGeom>
          <a:solidFill>
            <a:schemeClr val="accent1"/>
          </a:solidFill>
          <a:ln/>
        </p:spPr>
      </p:sp>
      <p:pic>
        <p:nvPicPr>
          <p:cNvPr id="10" name="plan_icon_1" descr="preencoded.png">    </p:cNvPr>
          <p:cNvPicPr>
            <a:picLocks noChangeAspect="1"/>
          </p:cNvPicPr>
          <p:nvPr/>
        </p:nvPicPr>
        <p:blipFill>
          <a:blip r:embed="rId2"/>
          <a:stretch>
            <a:fillRect/>
          </a:stretch>
        </p:blipFill>
        <p:spPr>
          <a:xfrm>
            <a:off x="3575304" y="1426464"/>
            <a:ext cx="210312" cy="210312"/>
          </a:xfrm>
          <a:prstGeom prst="rect">
            <a:avLst/>
          </a:prstGeom>
        </p:spPr>
      </p:pic>
      <p:sp>
        <p:nvSpPr>
          <p:cNvPr id="11" name="plan_head_1"/>
          <p:cNvSpPr txBox="1"/>
          <p:nvPr/>
        </p:nvSpPr>
        <p:spPr>
          <a:xfrm>
            <a:off x="3474720" y="1828800"/>
            <a:ext cx="2240280" cy="365760"/>
          </a:xfrm>
          <a:prstGeom prst="rect">
            <a:avLst/>
          </a:prstGeom>
          <a:noFill/>
          <a:ln/>
        </p:spPr>
        <p:txBody>
          <a:bodyPr wrap="square" lIns="0" tIns="0" rIns="0" bIns="0" rtlCol="0" anchor="ctr"/>
          <a:lstStyle/>
          <a:p>
            <a:pPr indent="0" marL="0">
              <a:buNone/>
            </a:pPr>
            <a:r>
              <a:rPr lang="en-US" sz="1500" b="1" dirty="0">
                <a:solidFill>
                  <a:schemeClr val="bg1"/>
                </a:solidFill>
              </a:rPr>
              <a:t>Timeline</a:t>
            </a:r>
            <a:endParaRPr lang="en-US" sz="1500" dirty="0"/>
          </a:p>
        </p:txBody>
      </p:sp>
      <p:sp>
        <p:nvSpPr>
          <p:cNvPr id="12" name="plan_body_1"/>
          <p:cNvSpPr txBox="1"/>
          <p:nvPr/>
        </p:nvSpPr>
        <p:spPr>
          <a:xfrm>
            <a:off x="3474720" y="2240280"/>
            <a:ext cx="2286000" cy="224028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chemeClr val="bg2"/>
                </a:solidFill>
              </a:rPr>
              <a:t>Oct 9 proposal</a:t>
            </a:r>
            <a:endParaRPr lang="en-US" sz="1200" dirty="0"/>
          </a:p>
          <a:p>
            <a:pPr marL="342900" indent="-342900">
              <a:spcAft>
                <a:spcPts val="600"/>
              </a:spcAft>
              <a:buSzPct val="100000"/>
              <a:buChar char="•"/>
            </a:pPr>
            <a:r>
              <a:rPr lang="en-US" sz="1200" dirty="0">
                <a:solidFill>
                  <a:schemeClr val="bg2"/>
                </a:solidFill>
              </a:rPr>
              <a:t>Oct 23 more models and reruns</a:t>
            </a:r>
            <a:endParaRPr lang="en-US" sz="1200" dirty="0"/>
          </a:p>
          <a:p>
            <a:pPr marL="342900" indent="-342900">
              <a:spcAft>
                <a:spcPts val="600"/>
              </a:spcAft>
              <a:buSzPct val="100000"/>
              <a:buChar char="•"/>
            </a:pPr>
            <a:r>
              <a:rPr lang="en-US" sz="1200" dirty="0">
                <a:solidFill>
                  <a:schemeClr val="bg2"/>
                </a:solidFill>
              </a:rPr>
              <a:t>Nov 6 slower CI machine runs</a:t>
            </a:r>
            <a:endParaRPr lang="en-US" sz="1200" dirty="0"/>
          </a:p>
          <a:p>
            <a:pPr marL="342900" indent="-342900">
              <a:spcAft>
                <a:spcPts val="600"/>
              </a:spcAft>
              <a:buSzPct val="100000"/>
              <a:buChar char="•"/>
            </a:pPr>
            <a:r>
              <a:rPr lang="en-US" sz="1200" dirty="0">
                <a:solidFill>
                  <a:schemeClr val="bg2"/>
                </a:solidFill>
              </a:rPr>
              <a:t>Nov 20 mitigation prompt</a:t>
            </a:r>
            <a:endParaRPr lang="en-US" sz="1200" dirty="0"/>
          </a:p>
          <a:p>
            <a:pPr marL="342900" indent="-342900">
              <a:spcAft>
                <a:spcPts val="600"/>
              </a:spcAft>
              <a:buSzPct val="100000"/>
              <a:buChar char="•"/>
            </a:pPr>
            <a:r>
              <a:rPr lang="en-US" sz="1200" dirty="0">
                <a:solidFill>
                  <a:schemeClr val="bg2"/>
                </a:solidFill>
              </a:rPr>
              <a:t>Dec 12 final report</a:t>
            </a:r>
            <a:endParaRPr lang="en-US" sz="1200" dirty="0"/>
          </a:p>
        </p:txBody>
      </p:sp>
      <p:sp>
        <p:nvSpPr>
          <p:cNvPr id="13" name="plan_card_2"/>
          <p:cNvSpPr/>
          <p:nvPr/>
        </p:nvSpPr>
        <p:spPr>
          <a:xfrm>
            <a:off x="6089904" y="1143000"/>
            <a:ext cx="2615184" cy="3108960"/>
          </a:xfrm>
          <a:prstGeom prst="roundRect">
            <a:avLst>
              <a:gd name="adj" fmla="val 4196"/>
            </a:avLst>
          </a:prstGeom>
          <a:solidFill>
            <a:schemeClr val="tx2"/>
          </a:solidFill>
          <a:ln/>
        </p:spPr>
      </p:sp>
      <p:sp>
        <p:nvSpPr>
          <p:cNvPr id="14" name="plan_circle_2"/>
          <p:cNvSpPr/>
          <p:nvPr/>
        </p:nvSpPr>
        <p:spPr>
          <a:xfrm>
            <a:off x="6291072" y="1325880"/>
            <a:ext cx="411480" cy="411480"/>
          </a:xfrm>
          <a:prstGeom prst="ellipse">
            <a:avLst/>
          </a:prstGeom>
          <a:solidFill>
            <a:schemeClr val="accent1"/>
          </a:solidFill>
          <a:ln/>
        </p:spPr>
      </p:sp>
      <p:pic>
        <p:nvPicPr>
          <p:cNvPr id="15" name="plan_icon_2" descr="preencoded.png">    </p:cNvPr>
          <p:cNvPicPr>
            <a:picLocks noChangeAspect="1"/>
          </p:cNvPicPr>
          <p:nvPr/>
        </p:nvPicPr>
        <p:blipFill>
          <a:blip r:embed="rId3"/>
          <a:stretch>
            <a:fillRect/>
          </a:stretch>
        </p:blipFill>
        <p:spPr>
          <a:xfrm>
            <a:off x="6391656" y="1426464"/>
            <a:ext cx="210312" cy="210312"/>
          </a:xfrm>
          <a:prstGeom prst="rect">
            <a:avLst/>
          </a:prstGeom>
        </p:spPr>
      </p:pic>
      <p:sp>
        <p:nvSpPr>
          <p:cNvPr id="16" name="plan_head_2"/>
          <p:cNvSpPr txBox="1"/>
          <p:nvPr/>
        </p:nvSpPr>
        <p:spPr>
          <a:xfrm>
            <a:off x="6291072" y="1828800"/>
            <a:ext cx="2240280" cy="365760"/>
          </a:xfrm>
          <a:prstGeom prst="rect">
            <a:avLst/>
          </a:prstGeom>
          <a:noFill/>
          <a:ln/>
        </p:spPr>
        <p:txBody>
          <a:bodyPr wrap="square" lIns="0" tIns="0" rIns="0" bIns="0" rtlCol="0" anchor="ctr"/>
          <a:lstStyle/>
          <a:p>
            <a:pPr indent="0" marL="0">
              <a:buNone/>
            </a:pPr>
            <a:r>
              <a:rPr lang="en-US" sz="1500" b="1" dirty="0">
                <a:solidFill>
                  <a:schemeClr val="bg1"/>
                </a:solidFill>
              </a:rPr>
              <a:t>What we are unsure about</a:t>
            </a:r>
            <a:endParaRPr lang="en-US" sz="1500" dirty="0"/>
          </a:p>
        </p:txBody>
      </p:sp>
      <p:sp>
        <p:nvSpPr>
          <p:cNvPr id="17" name="plan_body_2"/>
          <p:cNvSpPr txBox="1"/>
          <p:nvPr/>
        </p:nvSpPr>
        <p:spPr>
          <a:xfrm>
            <a:off x="6291072" y="2240280"/>
            <a:ext cx="2286000" cy="224028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chemeClr val="bg2"/>
                </a:solidFill>
              </a:rPr>
              <a:t>Flips are rare, so how many reruns are enough</a:t>
            </a:r>
            <a:endParaRPr lang="en-US" sz="1200" dirty="0"/>
          </a:p>
          <a:p>
            <a:pPr marL="342900" indent="-342900">
              <a:spcAft>
                <a:spcPts val="600"/>
              </a:spcAft>
              <a:buSzPct val="100000"/>
              <a:buChar char="•"/>
            </a:pPr>
            <a:r>
              <a:rPr lang="en-US" sz="1200" dirty="0">
                <a:solidFill>
                  <a:schemeClr val="bg2"/>
                </a:solidFill>
              </a:rPr>
              <a:t>Do risk patterns predict real flips</a:t>
            </a:r>
            <a:endParaRPr lang="en-US" sz="1200" dirty="0"/>
          </a:p>
          <a:p>
            <a:pPr marL="342900" indent="-342900">
              <a:spcAft>
                <a:spcPts val="600"/>
              </a:spcAft>
              <a:buSzPct val="100000"/>
              <a:buChar char="•"/>
            </a:pPr>
            <a:r>
              <a:rPr lang="en-US" sz="1200" dirty="0">
                <a:solidFill>
                  <a:schemeClr val="bg2"/>
                </a:solidFill>
              </a:rPr>
              <a:t>Is a laptop too fast to show timing bugs</a:t>
            </a:r>
            <a:endParaRPr lang="en-US" sz="1200" dirty="0"/>
          </a:p>
          <a:p>
            <a:pPr marL="342900" indent="-342900">
              <a:spcAft>
                <a:spcPts val="600"/>
              </a:spcAft>
              <a:buSzPct val="100000"/>
              <a:buChar char="•"/>
            </a:pPr>
            <a:r>
              <a:rPr lang="en-US" sz="1200" dirty="0">
                <a:solidFill>
                  <a:schemeClr val="bg2"/>
                </a:solidFill>
              </a:rPr>
              <a:t>Ideas for other perturbations welcome</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theme/theme1.xml><?xml version="1.0" encoding="utf-8"?>
<a:theme xmlns:a="http://schemas.openxmlformats.org/drawingml/2006/main" name="Flaky Signal">
  <a:themeElements>
    <a:clrScheme name="Flaky Signal">
      <a:dk1>
        <a:srgbClr val="1B2430"/>
      </a:dk1>
      <a:lt1>
        <a:srgbClr val="FFFFFF"/>
      </a:lt1>
      <a:dk2>
        <a:srgbClr val="2E3A4B"/>
      </a:dk2>
      <a:lt2>
        <a:srgbClr val="EEF1F4"/>
      </a:lt2>
      <a:accent1>
        <a:srgbClr val="E8A33D"/>
      </a:accent1>
      <a:accent2>
        <a:srgbClr val="2A9D8F"/>
      </a:accent2>
      <a:accent3>
        <a:srgbClr val="C8553D"/>
      </a:accent3>
      <a:accent4>
        <a:srgbClr val="6C7A89"/>
      </a:accent4>
      <a:accent5>
        <a:srgbClr val="8FB8DE"/>
      </a:accent5>
      <a:accent6>
        <a:srgbClr val="F4DDB0"/>
      </a:accent6>
      <a:hlink>
        <a:srgbClr val="2A9D8F"/>
      </a:hlink>
      <a:folHlink>
        <a:srgbClr val="6C7A89"/>
      </a:folHlink>
    </a:clrScheme>
    <a:fontScheme name="Flaky Signa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Are LLM Written Unit Tests Flaky</dc:title>
  <dc:subject>PptxGenJS Presentation</dc:subject>
  <dc:creator>Shaunak Kapur</dc:creator>
  <cp:lastModifiedBy>Shaunak Kapur</cp:lastModifiedBy>
  <cp:revision>1</cp:revision>
  <dcterms:created xsi:type="dcterms:W3CDTF">2026-10-04T23:24:24Z</dcterms:created>
  <dcterms:modified xsi:type="dcterms:W3CDTF">2026-10-04T23:24:24Z</dcterms:modified>
</cp:coreProperties>
</file>