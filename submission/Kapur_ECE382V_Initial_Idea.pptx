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id="{ff435a2e-0c16-7cf2-2737-32ed789dd250}">
          <p14:sldIdLst>
            <p14:sldId id="256"/>
            <p14:sldId id="257"/>
            <p14:sldId id="258"/>
            <p14:sldId id="259"/>
          </p14:sldIdLst>
        </p14:section>
        <p14:section name="Plan" id="{36f3b153-6a51-5cbb-ca02-e1ceba0b76cd}">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j-lt"/>
              </a:defRPr>
            </a:pPr>
            <a:r>
              <a:rPr sz="1300" b="0" i="0" u="none" strike="noStrike">
                <a:solidFill>
                  <a:srgbClr val="1B2430"/>
                </a:solidFill>
                <a:latin typeface="+mj-lt"/>
              </a:rPr>
              <a:t>Tests with a flakiness risk pattern (%)</a:t>
            </a:r>
          </a:p>
        </c:rich>
      </c:tx>
      <c:layout/>
      <c:overlay val="0"/>
    </c:title>
    <c:autoTitleDeleted val="0"/>
    <c:plotArea>
      <c:layout/>
      <c:barChart>
        <c:barDir val="col"/>
        <c:grouping val="clustered"/>
        <c:varyColors val="0"/>
        <c:ser>
          <c:idx val="0"/>
          <c:order val="0"/>
          <c:tx>
            <c:strRef>
              <c:f>Sheet1!$B$1</c:f>
              <c:strCache>
                <c:ptCount val="1"/>
                <c:pt idx="0">
                  <c:v>Tests with a risk pattern</c:v>
                </c:pt>
              </c:strCache>
            </c:strRef>
          </c:tx>
          <c:spPr>
            <a:solidFill>
              <a:srgbClr val="6C7A89"/>
            </a:solidFill>
            <a:effectLst/>
          </c:spPr>
          <c:invertIfNegative val="0"/>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dPt>
            <c:idx val="0"/>
            <c:invertIfNegative val="0"/>
            <c:bubble3D val="0"/>
            <c:spPr>
              <a:solidFill>
                <a:srgbClr val="6C7A89"/>
              </a:solidFill>
              <a:effectLst/>
            </c:spPr>
          </c:dPt>
          <c:dPt>
            <c:idx val="1"/>
            <c:invertIfNegative val="0"/>
            <c:bubble3D val="0"/>
            <c:spPr>
              <a:solidFill>
                <a:srgbClr val="E8A33D"/>
              </a:solidFill>
              <a:effectLst/>
            </c:spPr>
          </c:dPt>
          <c:dPt>
            <c:idx val="2"/>
            <c:invertIfNegative val="0"/>
            <c:bubble3D val="0"/>
            <c:spPr>
              <a:solidFill>
                <a:srgbClr val="E8A33D"/>
              </a:solidFill>
              <a:effectLst/>
            </c:spPr>
          </c:dPt>
          <c:dPt>
            <c:idx val="3"/>
            <c:invertIfNegative val="0"/>
            <c:bubble3D val="0"/>
            <c:spPr>
              <a:solidFill>
                <a:srgbClr val="E8A33D"/>
              </a:solidFill>
              <a:effectLst/>
            </c:spPr>
          </c:dPt>
          <c:cat>
            <c:multiLvlStrRef>
              <c:f>Sheet1!$A$2:$A$5</c:f>
              <c:multiLvlStrCache>
                <c:ptCount val="4"/>
                <c:lvl>
                  <c:pt idx="0">
                    <c:v>Human</c:v>
                  </c:pt>
                  <c:pt idx="1">
                    <c:v>Agentic Sonnet</c:v>
                  </c:pt>
                  <c:pt idx="2">
                    <c:v>One shot Sonnet</c:v>
                  </c:pt>
                  <c:pt idx="3">
                    <c:v>One shot Haiku</c:v>
                  </c:pt>
                </c:lvl>
              </c:multiLvlStrCache>
            </c:multiLvlStrRef>
          </c:cat>
          <c:val>
            <c:numRef>
              <c:f>Sheet1!$B$2:$B$5</c:f>
              <c:numCache>
                <c:formatCode>General</c:formatCode>
                <c:ptCount val="4"/>
                <c:pt idx="0">
                  <c:v>3.9</c:v>
                </c:pt>
                <c:pt idx="1">
                  <c:v>8.4</c:v>
                </c:pt>
                <c:pt idx="2">
                  <c:v>8.5</c:v>
                </c:pt>
                <c:pt idx="3">
                  <c:v>9.4</c:v>
                </c:pt>
              </c:numCache>
            </c:numRef>
          </c:val>
        </c:ser>
        <c:dLbls>
          <c:numFmt formatCode="0.0&quot;%&quot;" sourceLinked="0"/>
          <c:txPr>
            <a:bodyPr/>
            <a:lstStyle/>
            <a:p>
              <a:pPr>
                <a:defRPr b="0" i="0" strike="noStrike" sz="12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C7A89"/>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Shaunak and I am working on this project on my own. The question is simple. When an LLM writes your unit tests, are those tests flaky? This strip is what a flaky test looks like. Thirty runs, twenty nine pass, one fails, with no code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like TestPilot, and most Copilot style setups, generate a test, run it once, and keep it if it passes. The problem is that a flaky test can pass that one run. All of the big flaky test studies, like Luo et al. and the Python study by Gruber et al., look at tests written by people. Nobody has really measured this for LLM written tests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twelve small Python libraries. The first six are a pilot and the other six were added because they deal with time, randomness, threads, or files, which is where flaky tests usually come from. For each library there are four suites. The library's own human tests, an agentic Sonnet setup that runs its tests and fixes failures, and two one shot setups that write the tests and never run them, one with Sonnet and one with Haiku. Every suite gets rerun seventy times while I shuffle test order and hash seed, switch between ten time zones, and load every CPU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I have about 714,000 test executions across 48 suites. Real flakiness is rare. 6 human tests flipped and four of those are order dependent, where one test leaves something in a global registry. 3 LLM tests flipped, all from the one shot Haiku suites, and all three are about real time. One asserts on a random retry delay, one has a tight deadline that breaks under CPU load, and one builds a time two hours from now that crosses midnight in some time zones. All three passed the single run filter, so a real pipeline would have kept them. The chart shows the bigger difference. LLM suites have about twice as many tests with risky patterns like real sleeps, unfrozen clock reads, and unseeded randomness.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I will report the flaky rate of each suite with confidence intervals, label the root cause of every flaky test using the Luo et al. categories, compare risk patterns and coverage, and measure what a one run filter keeps and throws away. The thing I am least sure about is the base rate. Flips are rare, so I might need far more reruns or a slower machine to see real differences. I would love ideas on other perturbations to try.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560320"/>
            <a:ext cx="8046720" cy="82296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ECE 382V   Initial project idea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188720"/>
          </a:xfrm>
          <a:prstGeom prst="rect">
            <a:avLst/>
          </a:prstGeom>
          <a:noFill/>
          <a:ln/>
        </p:spPr>
        <p:txBody>
          <a:bodyPr wrap="square" lIns="0" tIns="0" rIns="0" bIns="0" rtlCol="0" anchor="b"/>
          <a:lstStyle/>
          <a:p>
            <a:pPr algn="l" indent="0" marL="0">
              <a:buNone/>
            </a:pPr>
            <a:r>
              <a:rPr lang="en-US" sz="4000" b="1" dirty="0">
                <a:solidFill>
                  <a:schemeClr val="bg1"/>
                </a:solidFill>
              </a:rPr>
              <a:t>Are LLM Written Unit Tests Flaky?</a:t>
            </a:r>
            <a:endParaRPr lang="en-US" sz="4000" dirty="0"/>
          </a:p>
        </p:txBody>
      </p:sp>
      <p:sp>
        <p:nvSpPr>
          <p:cNvPr id="3" name="Text 0"/>
          <p:cNvSpPr/>
          <p:nvPr>
            <p:ph idx="101" type="body" hasCustomPrompt="1"/>
          </p:nvPr>
        </p:nvSpPr>
        <p:spPr>
          <a:xfrm>
            <a:off x="548640" y="2560320"/>
            <a:ext cx="8046720" cy="822960"/>
          </a:xfrm>
          <a:prstGeom prst="rect">
            <a:avLst/>
          </a:prstGeom>
          <a:noFill/>
          <a:ln/>
        </p:spPr>
        <p:txBody>
          <a:bodyPr wrap="square" lIns="0" tIns="0" rIns="0" bIns="0" rtlCol="0" anchor="t"/>
          <a:lstStyle/>
          <a:p>
            <a:pPr indent="0" marL="0">
              <a:buNone/>
            </a:pPr>
            <a:r>
              <a:rPr lang="en-US" sz="1800" dirty="0">
                <a:solidFill>
                  <a:schemeClr val="accent6"/>
                </a:solidFill>
              </a:rPr>
              <a:t>Initial project idea for ECE 382V</a:t>
            </a:r>
            <a:endParaRPr lang="en-US" sz="1800" dirty="0"/>
          </a:p>
          <a:p>
            <a:pPr indent="0" marL="0">
              <a:buNone/>
            </a:pPr>
            <a:r>
              <a:rPr lang="en-US" sz="1400" dirty="0">
                <a:solidFill>
                  <a:schemeClr val="accent4"/>
                </a:solidFill>
              </a:rPr>
              <a:t>Shaunak Kapur, working individually</a:t>
            </a:r>
            <a:endParaRPr lang="en-US" sz="1800" dirty="0"/>
          </a:p>
        </p:txBody>
      </p:sp>
      <p:sp>
        <p:nvSpPr>
          <p:cNvPr id="4" name="runstrip_0"/>
          <p:cNvSpPr/>
          <p:nvPr/>
        </p:nvSpPr>
        <p:spPr>
          <a:xfrm>
            <a:off x="548640" y="3977640"/>
            <a:ext cx="182880" cy="182880"/>
          </a:xfrm>
          <a:prstGeom prst="roundRect">
            <a:avLst>
              <a:gd name="adj" fmla="val 20000"/>
            </a:avLst>
          </a:prstGeom>
          <a:solidFill>
            <a:schemeClr val="accent2"/>
          </a:solidFill>
          <a:ln/>
        </p:spPr>
      </p:sp>
      <p:sp>
        <p:nvSpPr>
          <p:cNvPr id="5" name="runstrip_1"/>
          <p:cNvSpPr/>
          <p:nvPr/>
        </p:nvSpPr>
        <p:spPr>
          <a:xfrm>
            <a:off x="804672" y="3977640"/>
            <a:ext cx="182880" cy="182880"/>
          </a:xfrm>
          <a:prstGeom prst="roundRect">
            <a:avLst>
              <a:gd name="adj" fmla="val 20000"/>
            </a:avLst>
          </a:prstGeom>
          <a:solidFill>
            <a:schemeClr val="accent2"/>
          </a:solidFill>
          <a:ln/>
        </p:spPr>
      </p:sp>
      <p:sp>
        <p:nvSpPr>
          <p:cNvPr id="6" name="runstrip_2"/>
          <p:cNvSpPr/>
          <p:nvPr/>
        </p:nvSpPr>
        <p:spPr>
          <a:xfrm>
            <a:off x="1060704" y="3977640"/>
            <a:ext cx="182880" cy="182880"/>
          </a:xfrm>
          <a:prstGeom prst="roundRect">
            <a:avLst>
              <a:gd name="adj" fmla="val 20000"/>
            </a:avLst>
          </a:prstGeom>
          <a:solidFill>
            <a:schemeClr val="accent2"/>
          </a:solidFill>
          <a:ln/>
        </p:spPr>
      </p:sp>
      <p:sp>
        <p:nvSpPr>
          <p:cNvPr id="7" name="runstrip_3"/>
          <p:cNvSpPr/>
          <p:nvPr/>
        </p:nvSpPr>
        <p:spPr>
          <a:xfrm>
            <a:off x="1316736" y="3977640"/>
            <a:ext cx="182880" cy="182880"/>
          </a:xfrm>
          <a:prstGeom prst="roundRect">
            <a:avLst>
              <a:gd name="adj" fmla="val 20000"/>
            </a:avLst>
          </a:prstGeom>
          <a:solidFill>
            <a:schemeClr val="accent2"/>
          </a:solidFill>
          <a:ln/>
        </p:spPr>
      </p:sp>
      <p:sp>
        <p:nvSpPr>
          <p:cNvPr id="8" name="runstrip_4"/>
          <p:cNvSpPr/>
          <p:nvPr/>
        </p:nvSpPr>
        <p:spPr>
          <a:xfrm>
            <a:off x="1572768" y="3977640"/>
            <a:ext cx="182880" cy="182880"/>
          </a:xfrm>
          <a:prstGeom prst="roundRect">
            <a:avLst>
              <a:gd name="adj" fmla="val 20000"/>
            </a:avLst>
          </a:prstGeom>
          <a:solidFill>
            <a:schemeClr val="accent2"/>
          </a:solidFill>
          <a:ln/>
        </p:spPr>
      </p:sp>
      <p:sp>
        <p:nvSpPr>
          <p:cNvPr id="9" name="runstrip_5"/>
          <p:cNvSpPr/>
          <p:nvPr/>
        </p:nvSpPr>
        <p:spPr>
          <a:xfrm>
            <a:off x="1828800" y="3977640"/>
            <a:ext cx="182880" cy="182880"/>
          </a:xfrm>
          <a:prstGeom prst="roundRect">
            <a:avLst>
              <a:gd name="adj" fmla="val 20000"/>
            </a:avLst>
          </a:prstGeom>
          <a:solidFill>
            <a:schemeClr val="accent2"/>
          </a:solidFill>
          <a:ln/>
        </p:spPr>
      </p:sp>
      <p:sp>
        <p:nvSpPr>
          <p:cNvPr id="10" name="runstrip_6"/>
          <p:cNvSpPr/>
          <p:nvPr/>
        </p:nvSpPr>
        <p:spPr>
          <a:xfrm>
            <a:off x="2084832" y="3977640"/>
            <a:ext cx="182880" cy="182880"/>
          </a:xfrm>
          <a:prstGeom prst="roundRect">
            <a:avLst>
              <a:gd name="adj" fmla="val 20000"/>
            </a:avLst>
          </a:prstGeom>
          <a:solidFill>
            <a:schemeClr val="accent2"/>
          </a:solidFill>
          <a:ln/>
        </p:spPr>
      </p:sp>
      <p:sp>
        <p:nvSpPr>
          <p:cNvPr id="11" name="runstrip_7"/>
          <p:cNvSpPr/>
          <p:nvPr/>
        </p:nvSpPr>
        <p:spPr>
          <a:xfrm>
            <a:off x="2340864" y="3977640"/>
            <a:ext cx="182880" cy="182880"/>
          </a:xfrm>
          <a:prstGeom prst="roundRect">
            <a:avLst>
              <a:gd name="adj" fmla="val 20000"/>
            </a:avLst>
          </a:prstGeom>
          <a:solidFill>
            <a:schemeClr val="accent2"/>
          </a:solidFill>
          <a:ln/>
        </p:spPr>
      </p:sp>
      <p:sp>
        <p:nvSpPr>
          <p:cNvPr id="12" name="runstrip_8"/>
          <p:cNvSpPr/>
          <p:nvPr/>
        </p:nvSpPr>
        <p:spPr>
          <a:xfrm>
            <a:off x="2596896" y="3977640"/>
            <a:ext cx="182880" cy="182880"/>
          </a:xfrm>
          <a:prstGeom prst="roundRect">
            <a:avLst>
              <a:gd name="adj" fmla="val 20000"/>
            </a:avLst>
          </a:prstGeom>
          <a:solidFill>
            <a:schemeClr val="accent2"/>
          </a:solidFill>
          <a:ln/>
        </p:spPr>
      </p:sp>
      <p:sp>
        <p:nvSpPr>
          <p:cNvPr id="13" name="runstrip_9"/>
          <p:cNvSpPr/>
          <p:nvPr/>
        </p:nvSpPr>
        <p:spPr>
          <a:xfrm>
            <a:off x="2852928" y="3977640"/>
            <a:ext cx="182880" cy="182880"/>
          </a:xfrm>
          <a:prstGeom prst="roundRect">
            <a:avLst>
              <a:gd name="adj" fmla="val 20000"/>
            </a:avLst>
          </a:prstGeom>
          <a:solidFill>
            <a:schemeClr val="accent2"/>
          </a:solidFill>
          <a:ln/>
        </p:spPr>
      </p:sp>
      <p:sp>
        <p:nvSpPr>
          <p:cNvPr id="14" name="runstrip_10"/>
          <p:cNvSpPr/>
          <p:nvPr/>
        </p:nvSpPr>
        <p:spPr>
          <a:xfrm>
            <a:off x="3108960" y="3977640"/>
            <a:ext cx="182880" cy="182880"/>
          </a:xfrm>
          <a:prstGeom prst="roundRect">
            <a:avLst>
              <a:gd name="adj" fmla="val 20000"/>
            </a:avLst>
          </a:prstGeom>
          <a:solidFill>
            <a:schemeClr val="accent2"/>
          </a:solidFill>
          <a:ln/>
        </p:spPr>
      </p:sp>
      <p:sp>
        <p:nvSpPr>
          <p:cNvPr id="15" name="runstrip_11"/>
          <p:cNvSpPr/>
          <p:nvPr/>
        </p:nvSpPr>
        <p:spPr>
          <a:xfrm>
            <a:off x="3364992" y="3977640"/>
            <a:ext cx="182880" cy="182880"/>
          </a:xfrm>
          <a:prstGeom prst="roundRect">
            <a:avLst>
              <a:gd name="adj" fmla="val 20000"/>
            </a:avLst>
          </a:prstGeom>
          <a:solidFill>
            <a:schemeClr val="accent2"/>
          </a:solidFill>
          <a:ln/>
        </p:spPr>
      </p:sp>
      <p:sp>
        <p:nvSpPr>
          <p:cNvPr id="16" name="runstrip_12"/>
          <p:cNvSpPr/>
          <p:nvPr/>
        </p:nvSpPr>
        <p:spPr>
          <a:xfrm>
            <a:off x="3621024" y="3977640"/>
            <a:ext cx="182880" cy="182880"/>
          </a:xfrm>
          <a:prstGeom prst="roundRect">
            <a:avLst>
              <a:gd name="adj" fmla="val 20000"/>
            </a:avLst>
          </a:prstGeom>
          <a:solidFill>
            <a:schemeClr val="accent2"/>
          </a:solidFill>
          <a:ln/>
        </p:spPr>
      </p:sp>
      <p:sp>
        <p:nvSpPr>
          <p:cNvPr id="17" name="runstrip_13"/>
          <p:cNvSpPr/>
          <p:nvPr/>
        </p:nvSpPr>
        <p:spPr>
          <a:xfrm>
            <a:off x="3877056" y="3977640"/>
            <a:ext cx="182880" cy="182880"/>
          </a:xfrm>
          <a:prstGeom prst="roundRect">
            <a:avLst>
              <a:gd name="adj" fmla="val 20000"/>
            </a:avLst>
          </a:prstGeom>
          <a:solidFill>
            <a:schemeClr val="accent2"/>
          </a:solidFill>
          <a:ln/>
        </p:spPr>
      </p:sp>
      <p:sp>
        <p:nvSpPr>
          <p:cNvPr id="18" name="runstrip_14"/>
          <p:cNvSpPr/>
          <p:nvPr/>
        </p:nvSpPr>
        <p:spPr>
          <a:xfrm>
            <a:off x="4133088" y="3977640"/>
            <a:ext cx="182880" cy="182880"/>
          </a:xfrm>
          <a:prstGeom prst="roundRect">
            <a:avLst>
              <a:gd name="adj" fmla="val 20000"/>
            </a:avLst>
          </a:prstGeom>
          <a:solidFill>
            <a:schemeClr val="accent2"/>
          </a:solidFill>
          <a:ln/>
        </p:spPr>
      </p:sp>
      <p:sp>
        <p:nvSpPr>
          <p:cNvPr id="19" name="runstrip_15"/>
          <p:cNvSpPr/>
          <p:nvPr/>
        </p:nvSpPr>
        <p:spPr>
          <a:xfrm>
            <a:off x="4389120" y="3977640"/>
            <a:ext cx="182880" cy="182880"/>
          </a:xfrm>
          <a:prstGeom prst="roundRect">
            <a:avLst>
              <a:gd name="adj" fmla="val 20000"/>
            </a:avLst>
          </a:prstGeom>
          <a:solidFill>
            <a:schemeClr val="accent2"/>
          </a:solidFill>
          <a:ln/>
        </p:spPr>
      </p:sp>
      <p:sp>
        <p:nvSpPr>
          <p:cNvPr id="20" name="runstrip_16"/>
          <p:cNvSpPr/>
          <p:nvPr/>
        </p:nvSpPr>
        <p:spPr>
          <a:xfrm>
            <a:off x="4645152" y="3977640"/>
            <a:ext cx="182880" cy="182880"/>
          </a:xfrm>
          <a:prstGeom prst="roundRect">
            <a:avLst>
              <a:gd name="adj" fmla="val 20000"/>
            </a:avLst>
          </a:prstGeom>
          <a:solidFill>
            <a:schemeClr val="accent2"/>
          </a:solidFill>
          <a:ln/>
        </p:spPr>
      </p:sp>
      <p:sp>
        <p:nvSpPr>
          <p:cNvPr id="21" name="runstrip_17"/>
          <p:cNvSpPr/>
          <p:nvPr/>
        </p:nvSpPr>
        <p:spPr>
          <a:xfrm>
            <a:off x="4901184" y="3977640"/>
            <a:ext cx="182880" cy="182880"/>
          </a:xfrm>
          <a:prstGeom prst="roundRect">
            <a:avLst>
              <a:gd name="adj" fmla="val 20000"/>
            </a:avLst>
          </a:prstGeom>
          <a:solidFill>
            <a:schemeClr val="accent2"/>
          </a:solidFill>
          <a:ln/>
        </p:spPr>
      </p:sp>
      <p:sp>
        <p:nvSpPr>
          <p:cNvPr id="22" name="runstrip_18"/>
          <p:cNvSpPr/>
          <p:nvPr/>
        </p:nvSpPr>
        <p:spPr>
          <a:xfrm>
            <a:off x="5157216" y="3977640"/>
            <a:ext cx="182880" cy="182880"/>
          </a:xfrm>
          <a:prstGeom prst="roundRect">
            <a:avLst>
              <a:gd name="adj" fmla="val 20000"/>
            </a:avLst>
          </a:prstGeom>
          <a:solidFill>
            <a:schemeClr val="accent2"/>
          </a:solidFill>
          <a:ln/>
        </p:spPr>
      </p:sp>
      <p:sp>
        <p:nvSpPr>
          <p:cNvPr id="23" name="runstrip_19"/>
          <p:cNvSpPr/>
          <p:nvPr/>
        </p:nvSpPr>
        <p:spPr>
          <a:xfrm>
            <a:off x="5413248" y="3977640"/>
            <a:ext cx="182880" cy="182880"/>
          </a:xfrm>
          <a:prstGeom prst="roundRect">
            <a:avLst>
              <a:gd name="adj" fmla="val 20000"/>
            </a:avLst>
          </a:prstGeom>
          <a:solidFill>
            <a:schemeClr val="accent2"/>
          </a:solidFill>
          <a:ln/>
        </p:spPr>
      </p:sp>
      <p:sp>
        <p:nvSpPr>
          <p:cNvPr id="24" name="runstrip_20"/>
          <p:cNvSpPr/>
          <p:nvPr/>
        </p:nvSpPr>
        <p:spPr>
          <a:xfrm>
            <a:off x="5669280" y="3977640"/>
            <a:ext cx="182880" cy="182880"/>
          </a:xfrm>
          <a:prstGeom prst="roundRect">
            <a:avLst>
              <a:gd name="adj" fmla="val 20000"/>
            </a:avLst>
          </a:prstGeom>
          <a:solidFill>
            <a:schemeClr val="accent2"/>
          </a:solidFill>
          <a:ln/>
        </p:spPr>
      </p:sp>
      <p:sp>
        <p:nvSpPr>
          <p:cNvPr id="25" name="runstrip_21"/>
          <p:cNvSpPr/>
          <p:nvPr/>
        </p:nvSpPr>
        <p:spPr>
          <a:xfrm>
            <a:off x="5925312" y="3977640"/>
            <a:ext cx="182880" cy="182880"/>
          </a:xfrm>
          <a:prstGeom prst="roundRect">
            <a:avLst>
              <a:gd name="adj" fmla="val 20000"/>
            </a:avLst>
          </a:prstGeom>
          <a:solidFill>
            <a:schemeClr val="accent2"/>
          </a:solidFill>
          <a:ln/>
        </p:spPr>
      </p:sp>
      <p:sp>
        <p:nvSpPr>
          <p:cNvPr id="26" name="runstrip_22"/>
          <p:cNvSpPr/>
          <p:nvPr/>
        </p:nvSpPr>
        <p:spPr>
          <a:xfrm>
            <a:off x="6181344" y="3977640"/>
            <a:ext cx="182880" cy="182880"/>
          </a:xfrm>
          <a:prstGeom prst="roundRect">
            <a:avLst>
              <a:gd name="adj" fmla="val 20000"/>
            </a:avLst>
          </a:prstGeom>
          <a:solidFill>
            <a:schemeClr val="accent1"/>
          </a:solidFill>
          <a:ln/>
        </p:spPr>
      </p:sp>
      <p:sp>
        <p:nvSpPr>
          <p:cNvPr id="27" name="runstrip_23"/>
          <p:cNvSpPr/>
          <p:nvPr/>
        </p:nvSpPr>
        <p:spPr>
          <a:xfrm>
            <a:off x="6437376" y="3977640"/>
            <a:ext cx="182880" cy="182880"/>
          </a:xfrm>
          <a:prstGeom prst="roundRect">
            <a:avLst>
              <a:gd name="adj" fmla="val 20000"/>
            </a:avLst>
          </a:prstGeom>
          <a:solidFill>
            <a:schemeClr val="accent2"/>
          </a:solidFill>
          <a:ln/>
        </p:spPr>
      </p:sp>
      <p:sp>
        <p:nvSpPr>
          <p:cNvPr id="28" name="runstrip_24"/>
          <p:cNvSpPr/>
          <p:nvPr/>
        </p:nvSpPr>
        <p:spPr>
          <a:xfrm>
            <a:off x="6693408" y="3977640"/>
            <a:ext cx="182880" cy="182880"/>
          </a:xfrm>
          <a:prstGeom prst="roundRect">
            <a:avLst>
              <a:gd name="adj" fmla="val 20000"/>
            </a:avLst>
          </a:prstGeom>
          <a:solidFill>
            <a:schemeClr val="accent2"/>
          </a:solidFill>
          <a:ln/>
        </p:spPr>
      </p:sp>
      <p:sp>
        <p:nvSpPr>
          <p:cNvPr id="29" name="runstrip_25"/>
          <p:cNvSpPr/>
          <p:nvPr/>
        </p:nvSpPr>
        <p:spPr>
          <a:xfrm>
            <a:off x="6949440" y="3977640"/>
            <a:ext cx="182880" cy="182880"/>
          </a:xfrm>
          <a:prstGeom prst="roundRect">
            <a:avLst>
              <a:gd name="adj" fmla="val 20000"/>
            </a:avLst>
          </a:prstGeom>
          <a:solidFill>
            <a:schemeClr val="accent2"/>
          </a:solidFill>
          <a:ln/>
        </p:spPr>
      </p:sp>
      <p:sp>
        <p:nvSpPr>
          <p:cNvPr id="30" name="runstrip_26"/>
          <p:cNvSpPr/>
          <p:nvPr/>
        </p:nvSpPr>
        <p:spPr>
          <a:xfrm>
            <a:off x="7205472" y="3977640"/>
            <a:ext cx="182880" cy="182880"/>
          </a:xfrm>
          <a:prstGeom prst="roundRect">
            <a:avLst>
              <a:gd name="adj" fmla="val 20000"/>
            </a:avLst>
          </a:prstGeom>
          <a:solidFill>
            <a:schemeClr val="accent2"/>
          </a:solidFill>
          <a:ln/>
        </p:spPr>
      </p:sp>
      <p:sp>
        <p:nvSpPr>
          <p:cNvPr id="31" name="runstrip_27"/>
          <p:cNvSpPr/>
          <p:nvPr/>
        </p:nvSpPr>
        <p:spPr>
          <a:xfrm>
            <a:off x="7461504" y="3977640"/>
            <a:ext cx="182880" cy="182880"/>
          </a:xfrm>
          <a:prstGeom prst="roundRect">
            <a:avLst>
              <a:gd name="adj" fmla="val 20000"/>
            </a:avLst>
          </a:prstGeom>
          <a:solidFill>
            <a:schemeClr val="accent2"/>
          </a:solidFill>
          <a:ln/>
        </p:spPr>
      </p:sp>
      <p:sp>
        <p:nvSpPr>
          <p:cNvPr id="32" name="runstrip_28"/>
          <p:cNvSpPr/>
          <p:nvPr/>
        </p:nvSpPr>
        <p:spPr>
          <a:xfrm>
            <a:off x="7717536" y="3977640"/>
            <a:ext cx="182880" cy="182880"/>
          </a:xfrm>
          <a:prstGeom prst="roundRect">
            <a:avLst>
              <a:gd name="adj" fmla="val 20000"/>
            </a:avLst>
          </a:prstGeom>
          <a:solidFill>
            <a:schemeClr val="accent2"/>
          </a:solidFill>
          <a:ln/>
        </p:spPr>
      </p:sp>
      <p:sp>
        <p:nvSpPr>
          <p:cNvPr id="33" name="runstrip_29"/>
          <p:cNvSpPr/>
          <p:nvPr/>
        </p:nvSpPr>
        <p:spPr>
          <a:xfrm>
            <a:off x="7973568" y="3977640"/>
            <a:ext cx="182880" cy="182880"/>
          </a:xfrm>
          <a:prstGeom prst="roundRect">
            <a:avLst>
              <a:gd name="adj" fmla="val 20000"/>
            </a:avLst>
          </a:prstGeom>
          <a:solidFill>
            <a:schemeClr val="accent2"/>
          </a:solidFill>
          <a:ln/>
        </p:spPr>
      </p:sp>
      <p:sp>
        <p:nvSpPr>
          <p:cNvPr id="34" name="runstrip_caption"/>
          <p:cNvSpPr txBox="1"/>
          <p:nvPr/>
        </p:nvSpPr>
        <p:spPr>
          <a:xfrm>
            <a:off x="548640" y="4251960"/>
            <a:ext cx="7772400" cy="274320"/>
          </a:xfrm>
          <a:prstGeom prst="rect">
            <a:avLst/>
          </a:prstGeom>
          <a:noFill/>
          <a:ln/>
        </p:spPr>
        <p:txBody>
          <a:bodyPr wrap="square" lIns="0" tIns="0" rIns="0" bIns="0" rtlCol="0" anchor="ctr"/>
          <a:lstStyle/>
          <a:p>
            <a:pPr indent="0" marL="0">
              <a:buNone/>
            </a:pPr>
            <a:r>
              <a:rPr lang="en-US" sz="1100" i="1" dirty="0">
                <a:solidFill>
                  <a:schemeClr val="accent4"/>
                </a:solidFill>
              </a:rPr>
              <a:t>30 reruns of one test, one of them failed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Generation pipelines trust one passing run</a:t>
            </a:r>
            <a:endParaRPr lang="en-US" sz="3000" dirty="0"/>
          </a:p>
        </p:txBody>
      </p:sp>
      <p:sp>
        <p:nvSpPr>
          <p:cNvPr id="3" name="step_0"/>
          <p:cNvSpPr/>
          <p:nvPr/>
        </p:nvSpPr>
        <p:spPr>
          <a:xfrm>
            <a:off x="457200" y="1325880"/>
            <a:ext cx="1691640" cy="868680"/>
          </a:xfrm>
          <a:prstGeom prst="roundRect">
            <a:avLst>
              <a:gd name="adj" fmla="val 12632"/>
            </a:avLst>
          </a:prstGeom>
          <a:solidFill>
            <a:schemeClr val="bg2"/>
          </a:solidFill>
          <a:ln/>
        </p:spPr>
      </p:sp>
      <p:sp>
        <p:nvSpPr>
          <p:cNvPr id="4" name="step_text_0"/>
          <p:cNvSpPr txBox="1"/>
          <p:nvPr/>
        </p:nvSpPr>
        <p:spPr>
          <a:xfrm>
            <a:off x="457200"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LLM writes a test</a:t>
            </a:r>
            <a:endParaRPr lang="en-US" sz="1600" dirty="0"/>
          </a:p>
        </p:txBody>
      </p:sp>
      <p:sp>
        <p:nvSpPr>
          <p:cNvPr id="5" name="arrow_0"/>
          <p:cNvSpPr/>
          <p:nvPr/>
        </p:nvSpPr>
        <p:spPr>
          <a:xfrm>
            <a:off x="2221992" y="1760220"/>
            <a:ext cx="338328" cy="0"/>
          </a:xfrm>
          <a:prstGeom prst="line">
            <a:avLst/>
          </a:prstGeom>
          <a:noFill/>
          <a:ln w="25400">
            <a:solidFill>
              <a:schemeClr val="accent4"/>
            </a:solidFill>
            <a:prstDash val="solid"/>
            <a:tailEnd type="triangle"/>
          </a:ln>
        </p:spPr>
      </p:sp>
      <p:sp>
        <p:nvSpPr>
          <p:cNvPr id="6" name="step_1"/>
          <p:cNvSpPr/>
          <p:nvPr/>
        </p:nvSpPr>
        <p:spPr>
          <a:xfrm>
            <a:off x="2633472" y="1325880"/>
            <a:ext cx="1691640" cy="868680"/>
          </a:xfrm>
          <a:prstGeom prst="roundRect">
            <a:avLst>
              <a:gd name="adj" fmla="val 12632"/>
            </a:avLst>
          </a:prstGeom>
          <a:solidFill>
            <a:schemeClr val="bg2"/>
          </a:solidFill>
          <a:ln/>
        </p:spPr>
      </p:sp>
      <p:sp>
        <p:nvSpPr>
          <p:cNvPr id="7" name="step_text_1"/>
          <p:cNvSpPr txBox="1"/>
          <p:nvPr/>
        </p:nvSpPr>
        <p:spPr>
          <a:xfrm>
            <a:off x="2633472"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Run it once</a:t>
            </a:r>
            <a:endParaRPr lang="en-US" sz="1600" dirty="0"/>
          </a:p>
        </p:txBody>
      </p:sp>
      <p:sp>
        <p:nvSpPr>
          <p:cNvPr id="8" name="arrow_1"/>
          <p:cNvSpPr/>
          <p:nvPr/>
        </p:nvSpPr>
        <p:spPr>
          <a:xfrm>
            <a:off x="4398264" y="1760220"/>
            <a:ext cx="338328" cy="0"/>
          </a:xfrm>
          <a:prstGeom prst="line">
            <a:avLst/>
          </a:prstGeom>
          <a:noFill/>
          <a:ln w="25400">
            <a:solidFill>
              <a:schemeClr val="accent4"/>
            </a:solidFill>
            <a:prstDash val="solid"/>
            <a:tailEnd type="triangle"/>
          </a:ln>
        </p:spPr>
      </p:sp>
      <p:sp>
        <p:nvSpPr>
          <p:cNvPr id="9" name="step_2"/>
          <p:cNvSpPr/>
          <p:nvPr/>
        </p:nvSpPr>
        <p:spPr>
          <a:xfrm>
            <a:off x="4809744" y="1325880"/>
            <a:ext cx="1691640" cy="868680"/>
          </a:xfrm>
          <a:prstGeom prst="roundRect">
            <a:avLst>
              <a:gd name="adj" fmla="val 12632"/>
            </a:avLst>
          </a:prstGeom>
          <a:solidFill>
            <a:schemeClr val="bg2"/>
          </a:solidFill>
          <a:ln/>
        </p:spPr>
      </p:sp>
      <p:sp>
        <p:nvSpPr>
          <p:cNvPr id="10" name="step_text_2"/>
          <p:cNvSpPr txBox="1"/>
          <p:nvPr/>
        </p:nvSpPr>
        <p:spPr>
          <a:xfrm>
            <a:off x="4809744"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It passed</a:t>
            </a:r>
            <a:endParaRPr lang="en-US" sz="1600" dirty="0"/>
          </a:p>
        </p:txBody>
      </p:sp>
      <p:sp>
        <p:nvSpPr>
          <p:cNvPr id="11" name="arrow_2"/>
          <p:cNvSpPr/>
          <p:nvPr/>
        </p:nvSpPr>
        <p:spPr>
          <a:xfrm>
            <a:off x="6574536" y="1760220"/>
            <a:ext cx="338328" cy="0"/>
          </a:xfrm>
          <a:prstGeom prst="line">
            <a:avLst/>
          </a:prstGeom>
          <a:noFill/>
          <a:ln w="25400">
            <a:solidFill>
              <a:schemeClr val="accent4"/>
            </a:solidFill>
            <a:prstDash val="solid"/>
            <a:tailEnd type="triangle"/>
          </a:ln>
        </p:spPr>
      </p:sp>
      <p:sp>
        <p:nvSpPr>
          <p:cNvPr id="12" name="step_3"/>
          <p:cNvSpPr/>
          <p:nvPr/>
        </p:nvSpPr>
        <p:spPr>
          <a:xfrm>
            <a:off x="6986016" y="1325880"/>
            <a:ext cx="1691640" cy="868680"/>
          </a:xfrm>
          <a:prstGeom prst="roundRect">
            <a:avLst>
              <a:gd name="adj" fmla="val 12632"/>
            </a:avLst>
          </a:prstGeom>
          <a:solidFill>
            <a:schemeClr val="accent1"/>
          </a:solidFill>
          <a:ln/>
        </p:spPr>
      </p:sp>
      <p:sp>
        <p:nvSpPr>
          <p:cNvPr id="13" name="step_text_3"/>
          <p:cNvSpPr txBox="1"/>
          <p:nvPr/>
        </p:nvSpPr>
        <p:spPr>
          <a:xfrm>
            <a:off x="6986016" y="1325880"/>
            <a:ext cx="1691640" cy="868680"/>
          </a:xfrm>
          <a:prstGeom prst="rect">
            <a:avLst/>
          </a:prstGeom>
          <a:noFill/>
          <a:ln/>
        </p:spPr>
        <p:txBody>
          <a:bodyPr wrap="square" lIns="50800" tIns="50800" rIns="50800" bIns="50800" rtlCol="0" anchor="ctr"/>
          <a:lstStyle/>
          <a:p>
            <a:pPr algn="ctr" indent="0" marL="0">
              <a:buNone/>
            </a:pPr>
            <a:r>
              <a:rPr lang="en-US" sz="1600" b="1" dirty="0">
                <a:solidFill>
                  <a:schemeClr val="tx1"/>
                </a:solidFill>
              </a:rPr>
              <a:t>Keep it forever</a:t>
            </a:r>
            <a:endParaRPr lang="en-US" sz="1600" dirty="0"/>
          </a:p>
        </p:txBody>
      </p:sp>
      <p:sp>
        <p:nvSpPr>
          <p:cNvPr id="14" name="why_bullets"/>
          <p:cNvSpPr txBox="1"/>
          <p:nvPr/>
        </p:nvSpPr>
        <p:spPr>
          <a:xfrm>
            <a:off x="457200" y="2514600"/>
            <a:ext cx="512064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TestPilot and most Copilot style pipelines keep a generated test if it passes one run.</a:t>
            </a:r>
            <a:endParaRPr lang="en-US" sz="1500" dirty="0"/>
          </a:p>
          <a:p>
            <a:pPr marL="342900" indent="-342900">
              <a:spcAft>
                <a:spcPts val="800"/>
              </a:spcAft>
              <a:buSzPct val="100000"/>
              <a:buChar char="•"/>
            </a:pPr>
            <a:r>
              <a:rPr lang="en-US" sz="1500" dirty="0">
                <a:solidFill>
                  <a:schemeClr val="tx1"/>
                </a:solidFill>
              </a:rPr>
              <a:t>Every big flaky test study so far looks at tests written by people.</a:t>
            </a:r>
            <a:endParaRPr lang="en-US" sz="1500" dirty="0"/>
          </a:p>
          <a:p>
            <a:pPr marL="342900" indent="-342900">
              <a:spcAft>
                <a:spcPts val="800"/>
              </a:spcAft>
              <a:buSzPct val="100000"/>
              <a:buChar char="•"/>
            </a:pPr>
            <a:r>
              <a:rPr lang="en-US" sz="1500" dirty="0">
                <a:solidFill>
                  <a:schemeClr val="tx1"/>
                </a:solidFill>
              </a:rPr>
              <a:t>So I want to know if LLM tests are more flaky, why, and if one run is enough to catch it.</a:t>
            </a:r>
            <a:endParaRPr lang="en-US" sz="1500" dirty="0"/>
          </a:p>
        </p:txBody>
      </p:sp>
      <p:sp>
        <p:nvSpPr>
          <p:cNvPr id="15" name="callout_box"/>
          <p:cNvSpPr/>
          <p:nvPr/>
        </p:nvSpPr>
        <p:spPr>
          <a:xfrm>
            <a:off x="5897880" y="2560320"/>
            <a:ext cx="2788920" cy="1783080"/>
          </a:xfrm>
          <a:prstGeom prst="roundRect">
            <a:avLst>
              <a:gd name="adj" fmla="val 6154"/>
            </a:avLst>
          </a:prstGeom>
          <a:solidFill>
            <a:schemeClr val="tx1"/>
          </a:solidFill>
          <a:ln/>
        </p:spPr>
      </p:sp>
      <p:sp>
        <p:nvSpPr>
          <p:cNvPr id="16" name="mini_strip_0"/>
          <p:cNvSpPr/>
          <p:nvPr/>
        </p:nvSpPr>
        <p:spPr>
          <a:xfrm>
            <a:off x="6126480" y="2788920"/>
            <a:ext cx="219456" cy="219456"/>
          </a:xfrm>
          <a:prstGeom prst="roundRect">
            <a:avLst>
              <a:gd name="adj" fmla="val 16667"/>
            </a:avLst>
          </a:prstGeom>
          <a:solidFill>
            <a:schemeClr val="accent2"/>
          </a:solidFill>
          <a:ln/>
        </p:spPr>
      </p:sp>
      <p:sp>
        <p:nvSpPr>
          <p:cNvPr id="17" name="mini_strip_1"/>
          <p:cNvSpPr/>
          <p:nvPr/>
        </p:nvSpPr>
        <p:spPr>
          <a:xfrm>
            <a:off x="6419088" y="2788920"/>
            <a:ext cx="219456" cy="219456"/>
          </a:xfrm>
          <a:prstGeom prst="roundRect">
            <a:avLst>
              <a:gd name="adj" fmla="val 16667"/>
            </a:avLst>
          </a:prstGeom>
          <a:solidFill>
            <a:schemeClr val="accent2"/>
          </a:solidFill>
          <a:ln/>
        </p:spPr>
      </p:sp>
      <p:sp>
        <p:nvSpPr>
          <p:cNvPr id="18" name="mini_strip_2"/>
          <p:cNvSpPr/>
          <p:nvPr/>
        </p:nvSpPr>
        <p:spPr>
          <a:xfrm>
            <a:off x="6711696" y="2788920"/>
            <a:ext cx="219456" cy="219456"/>
          </a:xfrm>
          <a:prstGeom prst="roundRect">
            <a:avLst>
              <a:gd name="adj" fmla="val 16667"/>
            </a:avLst>
          </a:prstGeom>
          <a:solidFill>
            <a:schemeClr val="accent2"/>
          </a:solidFill>
          <a:ln/>
        </p:spPr>
      </p:sp>
      <p:sp>
        <p:nvSpPr>
          <p:cNvPr id="19" name="mini_strip_3"/>
          <p:cNvSpPr/>
          <p:nvPr/>
        </p:nvSpPr>
        <p:spPr>
          <a:xfrm>
            <a:off x="7004304" y="2788920"/>
            <a:ext cx="219456" cy="219456"/>
          </a:xfrm>
          <a:prstGeom prst="roundRect">
            <a:avLst>
              <a:gd name="adj" fmla="val 16667"/>
            </a:avLst>
          </a:prstGeom>
          <a:solidFill>
            <a:schemeClr val="accent2"/>
          </a:solidFill>
          <a:ln/>
        </p:spPr>
      </p:sp>
      <p:sp>
        <p:nvSpPr>
          <p:cNvPr id="20" name="mini_strip_4"/>
          <p:cNvSpPr/>
          <p:nvPr/>
        </p:nvSpPr>
        <p:spPr>
          <a:xfrm>
            <a:off x="7296912" y="2788920"/>
            <a:ext cx="219456" cy="219456"/>
          </a:xfrm>
          <a:prstGeom prst="roundRect">
            <a:avLst>
              <a:gd name="adj" fmla="val 16667"/>
            </a:avLst>
          </a:prstGeom>
          <a:solidFill>
            <a:schemeClr val="accent2"/>
          </a:solidFill>
          <a:ln/>
        </p:spPr>
      </p:sp>
      <p:sp>
        <p:nvSpPr>
          <p:cNvPr id="21" name="mini_strip_5"/>
          <p:cNvSpPr/>
          <p:nvPr/>
        </p:nvSpPr>
        <p:spPr>
          <a:xfrm>
            <a:off x="7589520" y="2788920"/>
            <a:ext cx="219456" cy="219456"/>
          </a:xfrm>
          <a:prstGeom prst="roundRect">
            <a:avLst>
              <a:gd name="adj" fmla="val 16667"/>
            </a:avLst>
          </a:prstGeom>
          <a:solidFill>
            <a:schemeClr val="accent1"/>
          </a:solidFill>
          <a:ln/>
        </p:spPr>
      </p:sp>
      <p:sp>
        <p:nvSpPr>
          <p:cNvPr id="22" name="mini_strip_6"/>
          <p:cNvSpPr/>
          <p:nvPr/>
        </p:nvSpPr>
        <p:spPr>
          <a:xfrm>
            <a:off x="7882128" y="2788920"/>
            <a:ext cx="219456" cy="219456"/>
          </a:xfrm>
          <a:prstGeom prst="roundRect">
            <a:avLst>
              <a:gd name="adj" fmla="val 16667"/>
            </a:avLst>
          </a:prstGeom>
          <a:solidFill>
            <a:schemeClr val="accent2"/>
          </a:solidFill>
          <a:ln/>
        </p:spPr>
      </p:sp>
      <p:sp>
        <p:nvSpPr>
          <p:cNvPr id="23" name="mini_strip_7"/>
          <p:cNvSpPr/>
          <p:nvPr/>
        </p:nvSpPr>
        <p:spPr>
          <a:xfrm>
            <a:off x="8174736" y="2788920"/>
            <a:ext cx="219456" cy="219456"/>
          </a:xfrm>
          <a:prstGeom prst="roundRect">
            <a:avLst>
              <a:gd name="adj" fmla="val 16667"/>
            </a:avLst>
          </a:prstGeom>
          <a:solidFill>
            <a:schemeClr val="accent2"/>
          </a:solidFill>
          <a:ln/>
        </p:spPr>
      </p:sp>
      <p:sp>
        <p:nvSpPr>
          <p:cNvPr id="24" name="callout_text"/>
          <p:cNvSpPr txBox="1"/>
          <p:nvPr/>
        </p:nvSpPr>
        <p:spPr>
          <a:xfrm>
            <a:off x="6126480" y="3154680"/>
            <a:ext cx="2377440" cy="1051560"/>
          </a:xfrm>
          <a:prstGeom prst="rect">
            <a:avLst/>
          </a:prstGeom>
          <a:noFill/>
          <a:ln/>
        </p:spPr>
        <p:txBody>
          <a:bodyPr wrap="square" lIns="0" tIns="0" rIns="0" bIns="0" rtlCol="0" anchor="t"/>
          <a:lstStyle/>
          <a:p>
            <a:pPr indent="0" marL="0">
              <a:buNone/>
            </a:pPr>
            <a:r>
              <a:rPr lang="en-US" sz="1400" i="1" dirty="0">
                <a:solidFill>
                  <a:schemeClr val="bg1"/>
                </a:solidFill>
              </a:rPr>
              <a:t>A flaky test can pass the one run that decides if it gets kept.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What I am running</a:t>
            </a:r>
            <a:endParaRPr lang="en-US" sz="3000" dirty="0"/>
          </a:p>
        </p:txBody>
      </p:sp>
      <p:sp>
        <p:nvSpPr>
          <p:cNvPr id="3" name="libs_header"/>
          <p:cNvSpPr txBox="1"/>
          <p:nvPr/>
        </p:nvSpPr>
        <p:spPr>
          <a:xfrm>
            <a:off x="457200" y="1097280"/>
            <a:ext cx="3749040" cy="320040"/>
          </a:xfrm>
          <a:prstGeom prst="rect">
            <a:avLst/>
          </a:prstGeom>
          <a:noFill/>
          <a:ln/>
        </p:spPr>
        <p:txBody>
          <a:bodyPr wrap="square" lIns="0" tIns="0" rIns="0" bIns="0" rtlCol="0" anchor="ctr"/>
          <a:lstStyle/>
          <a:p>
            <a:pPr indent="0" marL="0">
              <a:buNone/>
            </a:pPr>
            <a:r>
              <a:rPr lang="en-US" sz="1600" b="1" dirty="0">
                <a:solidFill>
                  <a:schemeClr val="tx1"/>
                </a:solidFill>
              </a:rPr>
              <a:t>12 Python libraries</a:t>
            </a:r>
            <a:endParaRPr lang="en-US" sz="1600" dirty="0"/>
          </a:p>
        </p:txBody>
      </p:sp>
      <p:sp>
        <p:nvSpPr>
          <p:cNvPr id="4" name="lib_0"/>
          <p:cNvSpPr/>
          <p:nvPr/>
        </p:nvSpPr>
        <p:spPr>
          <a:xfrm>
            <a:off x="457200" y="1508760"/>
            <a:ext cx="1161288" cy="347472"/>
          </a:xfrm>
          <a:prstGeom prst="roundRect">
            <a:avLst>
              <a:gd name="adj" fmla="val 21053"/>
            </a:avLst>
          </a:prstGeom>
          <a:solidFill>
            <a:schemeClr val="bg2"/>
          </a:solidFill>
          <a:ln/>
        </p:spPr>
      </p:sp>
      <p:sp>
        <p:nvSpPr>
          <p:cNvPr id="5" name="lib_text_0"/>
          <p:cNvSpPr txBox="1"/>
          <p:nvPr/>
        </p:nvSpPr>
        <p:spPr>
          <a:xfrm>
            <a:off x="457200"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cachetools</a:t>
            </a:r>
            <a:endParaRPr lang="en-US" sz="1100" dirty="0"/>
          </a:p>
        </p:txBody>
      </p:sp>
      <p:sp>
        <p:nvSpPr>
          <p:cNvPr id="6" name="lib_1"/>
          <p:cNvSpPr/>
          <p:nvPr/>
        </p:nvSpPr>
        <p:spPr>
          <a:xfrm>
            <a:off x="1709928" y="1508760"/>
            <a:ext cx="1161288" cy="347472"/>
          </a:xfrm>
          <a:prstGeom prst="roundRect">
            <a:avLst>
              <a:gd name="adj" fmla="val 21053"/>
            </a:avLst>
          </a:prstGeom>
          <a:solidFill>
            <a:schemeClr val="bg2"/>
          </a:solidFill>
          <a:ln/>
        </p:spPr>
      </p:sp>
      <p:sp>
        <p:nvSpPr>
          <p:cNvPr id="7" name="lib_text_1"/>
          <p:cNvSpPr txBox="1"/>
          <p:nvPr/>
        </p:nvSpPr>
        <p:spPr>
          <a:xfrm>
            <a:off x="1709928"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schedule</a:t>
            </a:r>
            <a:endParaRPr lang="en-US" sz="1100" dirty="0"/>
          </a:p>
        </p:txBody>
      </p:sp>
      <p:sp>
        <p:nvSpPr>
          <p:cNvPr id="8" name="lib_2"/>
          <p:cNvSpPr/>
          <p:nvPr/>
        </p:nvSpPr>
        <p:spPr>
          <a:xfrm>
            <a:off x="2962656" y="1508760"/>
            <a:ext cx="1161288" cy="347472"/>
          </a:xfrm>
          <a:prstGeom prst="roundRect">
            <a:avLst>
              <a:gd name="adj" fmla="val 21053"/>
            </a:avLst>
          </a:prstGeom>
          <a:solidFill>
            <a:schemeClr val="bg2"/>
          </a:solidFill>
          <a:ln/>
        </p:spPr>
      </p:sp>
      <p:sp>
        <p:nvSpPr>
          <p:cNvPr id="9" name="lib_text_2"/>
          <p:cNvSpPr txBox="1"/>
          <p:nvPr/>
        </p:nvSpPr>
        <p:spPr>
          <a:xfrm>
            <a:off x="2962656" y="15087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tinydb</a:t>
            </a:r>
            <a:endParaRPr lang="en-US" sz="1100" dirty="0"/>
          </a:p>
        </p:txBody>
      </p:sp>
      <p:sp>
        <p:nvSpPr>
          <p:cNvPr id="10" name="lib_3"/>
          <p:cNvSpPr/>
          <p:nvPr/>
        </p:nvSpPr>
        <p:spPr>
          <a:xfrm>
            <a:off x="457200" y="1965960"/>
            <a:ext cx="1161288" cy="347472"/>
          </a:xfrm>
          <a:prstGeom prst="roundRect">
            <a:avLst>
              <a:gd name="adj" fmla="val 21053"/>
            </a:avLst>
          </a:prstGeom>
          <a:solidFill>
            <a:schemeClr val="bg2"/>
          </a:solidFill>
          <a:ln/>
        </p:spPr>
      </p:sp>
      <p:sp>
        <p:nvSpPr>
          <p:cNvPr id="11" name="lib_text_3"/>
          <p:cNvSpPr txBox="1"/>
          <p:nvPr/>
        </p:nvSpPr>
        <p:spPr>
          <a:xfrm>
            <a:off x="457200"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humanize</a:t>
            </a:r>
            <a:endParaRPr lang="en-US" sz="1100" dirty="0"/>
          </a:p>
        </p:txBody>
      </p:sp>
      <p:sp>
        <p:nvSpPr>
          <p:cNvPr id="12" name="lib_4"/>
          <p:cNvSpPr/>
          <p:nvPr/>
        </p:nvSpPr>
        <p:spPr>
          <a:xfrm>
            <a:off x="1709928" y="1965960"/>
            <a:ext cx="1161288" cy="347472"/>
          </a:xfrm>
          <a:prstGeom prst="roundRect">
            <a:avLst>
              <a:gd name="adj" fmla="val 21053"/>
            </a:avLst>
          </a:prstGeom>
          <a:solidFill>
            <a:schemeClr val="bg2"/>
          </a:solidFill>
          <a:ln/>
        </p:spPr>
      </p:sp>
      <p:sp>
        <p:nvSpPr>
          <p:cNvPr id="13" name="lib_text_4"/>
          <p:cNvSpPr txBox="1"/>
          <p:nvPr/>
        </p:nvSpPr>
        <p:spPr>
          <a:xfrm>
            <a:off x="1709928"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toolz</a:t>
            </a:r>
            <a:endParaRPr lang="en-US" sz="1100" dirty="0"/>
          </a:p>
        </p:txBody>
      </p:sp>
      <p:sp>
        <p:nvSpPr>
          <p:cNvPr id="14" name="lib_5"/>
          <p:cNvSpPr/>
          <p:nvPr/>
        </p:nvSpPr>
        <p:spPr>
          <a:xfrm>
            <a:off x="2962656" y="1965960"/>
            <a:ext cx="1161288" cy="347472"/>
          </a:xfrm>
          <a:prstGeom prst="roundRect">
            <a:avLst>
              <a:gd name="adj" fmla="val 21053"/>
            </a:avLst>
          </a:prstGeom>
          <a:solidFill>
            <a:schemeClr val="bg2"/>
          </a:solidFill>
          <a:ln/>
        </p:spPr>
      </p:sp>
      <p:sp>
        <p:nvSpPr>
          <p:cNvPr id="15" name="lib_text_5"/>
          <p:cNvSpPr txBox="1"/>
          <p:nvPr/>
        </p:nvSpPr>
        <p:spPr>
          <a:xfrm>
            <a:off x="2962656" y="19659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tabulate</a:t>
            </a:r>
            <a:endParaRPr lang="en-US" sz="1100" dirty="0"/>
          </a:p>
        </p:txBody>
      </p:sp>
      <p:sp>
        <p:nvSpPr>
          <p:cNvPr id="16" name="lib_6"/>
          <p:cNvSpPr/>
          <p:nvPr/>
        </p:nvSpPr>
        <p:spPr>
          <a:xfrm>
            <a:off x="457200" y="2423160"/>
            <a:ext cx="1161288" cy="347472"/>
          </a:xfrm>
          <a:prstGeom prst="roundRect">
            <a:avLst>
              <a:gd name="adj" fmla="val 21053"/>
            </a:avLst>
          </a:prstGeom>
          <a:solidFill>
            <a:schemeClr val="accent6"/>
          </a:solidFill>
          <a:ln/>
        </p:spPr>
      </p:sp>
      <p:sp>
        <p:nvSpPr>
          <p:cNvPr id="17" name="lib_text_6"/>
          <p:cNvSpPr txBox="1"/>
          <p:nvPr/>
        </p:nvSpPr>
        <p:spPr>
          <a:xfrm>
            <a:off x="457200"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tenacity</a:t>
            </a:r>
            <a:endParaRPr lang="en-US" sz="1100" dirty="0"/>
          </a:p>
        </p:txBody>
      </p:sp>
      <p:sp>
        <p:nvSpPr>
          <p:cNvPr id="18" name="lib_7"/>
          <p:cNvSpPr/>
          <p:nvPr/>
        </p:nvSpPr>
        <p:spPr>
          <a:xfrm>
            <a:off x="1709928" y="2423160"/>
            <a:ext cx="1161288" cy="347472"/>
          </a:xfrm>
          <a:prstGeom prst="roundRect">
            <a:avLst>
              <a:gd name="adj" fmla="val 21053"/>
            </a:avLst>
          </a:prstGeom>
          <a:solidFill>
            <a:schemeClr val="accent6"/>
          </a:solidFill>
          <a:ln/>
        </p:spPr>
      </p:sp>
      <p:sp>
        <p:nvSpPr>
          <p:cNvPr id="19" name="lib_text_7"/>
          <p:cNvSpPr txBox="1"/>
          <p:nvPr/>
        </p:nvSpPr>
        <p:spPr>
          <a:xfrm>
            <a:off x="1709928"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filelock</a:t>
            </a:r>
            <a:endParaRPr lang="en-US" sz="1100" dirty="0"/>
          </a:p>
        </p:txBody>
      </p:sp>
      <p:sp>
        <p:nvSpPr>
          <p:cNvPr id="20" name="lib_8"/>
          <p:cNvSpPr/>
          <p:nvPr/>
        </p:nvSpPr>
        <p:spPr>
          <a:xfrm>
            <a:off x="2962656" y="2423160"/>
            <a:ext cx="1161288" cy="347472"/>
          </a:xfrm>
          <a:prstGeom prst="roundRect">
            <a:avLst>
              <a:gd name="adj" fmla="val 21053"/>
            </a:avLst>
          </a:prstGeom>
          <a:solidFill>
            <a:schemeClr val="accent6"/>
          </a:solidFill>
          <a:ln/>
        </p:spPr>
      </p:sp>
      <p:sp>
        <p:nvSpPr>
          <p:cNvPr id="21" name="lib_text_8"/>
          <p:cNvSpPr txBox="1"/>
          <p:nvPr/>
        </p:nvSpPr>
        <p:spPr>
          <a:xfrm>
            <a:off x="2962656" y="24231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boltons</a:t>
            </a:r>
            <a:endParaRPr lang="en-US" sz="1100" dirty="0"/>
          </a:p>
        </p:txBody>
      </p:sp>
      <p:sp>
        <p:nvSpPr>
          <p:cNvPr id="22" name="lib_9"/>
          <p:cNvSpPr/>
          <p:nvPr/>
        </p:nvSpPr>
        <p:spPr>
          <a:xfrm>
            <a:off x="457200" y="2880360"/>
            <a:ext cx="1161288" cy="347472"/>
          </a:xfrm>
          <a:prstGeom prst="roundRect">
            <a:avLst>
              <a:gd name="adj" fmla="val 21053"/>
            </a:avLst>
          </a:prstGeom>
          <a:solidFill>
            <a:schemeClr val="accent6"/>
          </a:solidFill>
          <a:ln/>
        </p:spPr>
      </p:sp>
      <p:sp>
        <p:nvSpPr>
          <p:cNvPr id="23" name="lib_text_9"/>
          <p:cNvSpPr txBox="1"/>
          <p:nvPr/>
        </p:nvSpPr>
        <p:spPr>
          <a:xfrm>
            <a:off x="457200"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more-itertools</a:t>
            </a:r>
            <a:endParaRPr lang="en-US" sz="1100" dirty="0"/>
          </a:p>
        </p:txBody>
      </p:sp>
      <p:sp>
        <p:nvSpPr>
          <p:cNvPr id="24" name="lib_10"/>
          <p:cNvSpPr/>
          <p:nvPr/>
        </p:nvSpPr>
        <p:spPr>
          <a:xfrm>
            <a:off x="1709928" y="2880360"/>
            <a:ext cx="1161288" cy="347472"/>
          </a:xfrm>
          <a:prstGeom prst="roundRect">
            <a:avLst>
              <a:gd name="adj" fmla="val 21053"/>
            </a:avLst>
          </a:prstGeom>
          <a:solidFill>
            <a:schemeClr val="accent6"/>
          </a:solidFill>
          <a:ln/>
        </p:spPr>
      </p:sp>
      <p:sp>
        <p:nvSpPr>
          <p:cNvPr id="25" name="lib_text_10"/>
          <p:cNvSpPr txBox="1"/>
          <p:nvPr/>
        </p:nvSpPr>
        <p:spPr>
          <a:xfrm>
            <a:off x="1709928"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arrow</a:t>
            </a:r>
            <a:endParaRPr lang="en-US" sz="1100" dirty="0"/>
          </a:p>
        </p:txBody>
      </p:sp>
      <p:sp>
        <p:nvSpPr>
          <p:cNvPr id="26" name="lib_11"/>
          <p:cNvSpPr/>
          <p:nvPr/>
        </p:nvSpPr>
        <p:spPr>
          <a:xfrm>
            <a:off x="2962656" y="2880360"/>
            <a:ext cx="1161288" cy="347472"/>
          </a:xfrm>
          <a:prstGeom prst="roundRect">
            <a:avLst>
              <a:gd name="adj" fmla="val 21053"/>
            </a:avLst>
          </a:prstGeom>
          <a:solidFill>
            <a:schemeClr val="accent6"/>
          </a:solidFill>
          <a:ln/>
        </p:spPr>
      </p:sp>
      <p:sp>
        <p:nvSpPr>
          <p:cNvPr id="27" name="lib_text_11"/>
          <p:cNvSpPr txBox="1"/>
          <p:nvPr/>
        </p:nvSpPr>
        <p:spPr>
          <a:xfrm>
            <a:off x="2962656" y="2880360"/>
            <a:ext cx="1161288" cy="347472"/>
          </a:xfrm>
          <a:prstGeom prst="rect">
            <a:avLst/>
          </a:prstGeom>
          <a:noFill/>
          <a:ln/>
        </p:spPr>
        <p:txBody>
          <a:bodyPr wrap="square" lIns="0" tIns="0" rIns="0" bIns="0" rtlCol="0" anchor="ctr"/>
          <a:lstStyle/>
          <a:p>
            <a:pPr algn="ctr" indent="0" marL="0">
              <a:buNone/>
            </a:pPr>
            <a:r>
              <a:rPr lang="en-US" sz="1100" dirty="0">
                <a:solidFill>
                  <a:schemeClr val="tx1"/>
                </a:solidFill>
              </a:rPr>
              <a:t>pybreaker</a:t>
            </a:r>
            <a:endParaRPr lang="en-US" sz="1100" dirty="0"/>
          </a:p>
        </p:txBody>
      </p:sp>
      <p:sp>
        <p:nvSpPr>
          <p:cNvPr id="28" name="libs_note"/>
          <p:cNvSpPr txBox="1"/>
          <p:nvPr/>
        </p:nvSpPr>
        <p:spPr>
          <a:xfrm>
            <a:off x="457200" y="3383280"/>
            <a:ext cx="3657600" cy="457200"/>
          </a:xfrm>
          <a:prstGeom prst="rect">
            <a:avLst/>
          </a:prstGeom>
          <a:noFill/>
          <a:ln/>
        </p:spPr>
        <p:txBody>
          <a:bodyPr wrap="square" lIns="0" tIns="0" rIns="0" bIns="0" rtlCol="0" anchor="ctr"/>
          <a:lstStyle/>
          <a:p>
            <a:pPr indent="0" marL="0">
              <a:buNone/>
            </a:pPr>
            <a:r>
              <a:rPr lang="en-US" sz="1100" i="1" dirty="0">
                <a:solidFill>
                  <a:schemeClr val="accent4"/>
                </a:solidFill>
              </a:rPr>
              <a:t>Tan ones were added because they use time, randomness, threads, or files.</a:t>
            </a:r>
            <a:endParaRPr lang="en-US" sz="1100" dirty="0"/>
          </a:p>
        </p:txBody>
      </p:sp>
      <p:sp>
        <p:nvSpPr>
          <p:cNvPr id="29" name="conds_header"/>
          <p:cNvSpPr txBox="1"/>
          <p:nvPr/>
        </p:nvSpPr>
        <p:spPr>
          <a:xfrm>
            <a:off x="4572000" y="1097280"/>
            <a:ext cx="4114800" cy="320040"/>
          </a:xfrm>
          <a:prstGeom prst="rect">
            <a:avLst/>
          </a:prstGeom>
          <a:noFill/>
          <a:ln/>
        </p:spPr>
        <p:txBody>
          <a:bodyPr wrap="square" lIns="0" tIns="0" rIns="0" bIns="0" rtlCol="0" anchor="ctr"/>
          <a:lstStyle/>
          <a:p>
            <a:pPr indent="0" marL="0">
              <a:buNone/>
            </a:pPr>
            <a:r>
              <a:rPr lang="en-US" sz="1600" b="1" dirty="0">
                <a:solidFill>
                  <a:schemeClr val="tx1"/>
                </a:solidFill>
              </a:rPr>
              <a:t>4 test suites per library</a:t>
            </a:r>
            <a:endParaRPr lang="en-US" sz="1600" dirty="0"/>
          </a:p>
        </p:txBody>
      </p:sp>
      <p:sp>
        <p:nvSpPr>
          <p:cNvPr id="30" name="cond_circle_0"/>
          <p:cNvSpPr/>
          <p:nvPr/>
        </p:nvSpPr>
        <p:spPr>
          <a:xfrm>
            <a:off x="4572000" y="1508760"/>
            <a:ext cx="365760" cy="365760"/>
          </a:xfrm>
          <a:prstGeom prst="ellipse">
            <a:avLst/>
          </a:prstGeom>
          <a:solidFill>
            <a:schemeClr val="tx1"/>
          </a:solidFill>
          <a:ln/>
        </p:spPr>
      </p:sp>
      <p:pic>
        <p:nvPicPr>
          <p:cNvPr id="31" name="cond_icon_0" descr="preencoded.png">    </p:cNvPr>
          <p:cNvPicPr>
            <a:picLocks noChangeAspect="1"/>
          </p:cNvPicPr>
          <p:nvPr/>
        </p:nvPicPr>
        <p:blipFill>
          <a:blip r:embed="rId1"/>
          <a:stretch>
            <a:fillRect/>
          </a:stretch>
        </p:blipFill>
        <p:spPr>
          <a:xfrm>
            <a:off x="4654296" y="1591056"/>
            <a:ext cx="201168" cy="201168"/>
          </a:xfrm>
          <a:prstGeom prst="rect">
            <a:avLst/>
          </a:prstGeom>
        </p:spPr>
      </p:pic>
      <p:sp>
        <p:nvSpPr>
          <p:cNvPr id="32" name="cond_text_0"/>
          <p:cNvSpPr txBox="1"/>
          <p:nvPr/>
        </p:nvSpPr>
        <p:spPr>
          <a:xfrm>
            <a:off x="5074920" y="1463040"/>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Human</a:t>
            </a:r>
            <a:endParaRPr lang="en-US" sz="1300" dirty="0"/>
          </a:p>
          <a:p>
            <a:pPr indent="0" marL="0">
              <a:buNone/>
            </a:pPr>
            <a:r>
              <a:rPr lang="en-US" sz="1100" dirty="0">
                <a:solidFill>
                  <a:schemeClr val="accent4"/>
                </a:solidFill>
              </a:rPr>
              <a:t>the library's own test suite</a:t>
            </a:r>
            <a:endParaRPr lang="en-US" sz="1300" dirty="0"/>
          </a:p>
        </p:txBody>
      </p:sp>
      <p:sp>
        <p:nvSpPr>
          <p:cNvPr id="33" name="cond_circle_1"/>
          <p:cNvSpPr/>
          <p:nvPr/>
        </p:nvSpPr>
        <p:spPr>
          <a:xfrm>
            <a:off x="4572000" y="1984248"/>
            <a:ext cx="365760" cy="365760"/>
          </a:xfrm>
          <a:prstGeom prst="ellipse">
            <a:avLst/>
          </a:prstGeom>
          <a:solidFill>
            <a:schemeClr val="tx1"/>
          </a:solidFill>
          <a:ln/>
        </p:spPr>
      </p:sp>
      <p:pic>
        <p:nvPicPr>
          <p:cNvPr id="34" name="cond_icon_1" descr="preencoded.png">    </p:cNvPr>
          <p:cNvPicPr>
            <a:picLocks noChangeAspect="1"/>
          </p:cNvPicPr>
          <p:nvPr/>
        </p:nvPicPr>
        <p:blipFill>
          <a:blip r:embed="rId2"/>
          <a:stretch>
            <a:fillRect/>
          </a:stretch>
        </p:blipFill>
        <p:spPr>
          <a:xfrm>
            <a:off x="4654296" y="2066544"/>
            <a:ext cx="201168" cy="201168"/>
          </a:xfrm>
          <a:prstGeom prst="rect">
            <a:avLst/>
          </a:prstGeom>
        </p:spPr>
      </p:pic>
      <p:sp>
        <p:nvSpPr>
          <p:cNvPr id="35" name="cond_text_1"/>
          <p:cNvSpPr txBox="1"/>
          <p:nvPr/>
        </p:nvSpPr>
        <p:spPr>
          <a:xfrm>
            <a:off x="5074920" y="1938528"/>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Agentic Sonnet</a:t>
            </a:r>
            <a:endParaRPr lang="en-US" sz="1300" dirty="0"/>
          </a:p>
          <a:p>
            <a:pPr indent="0" marL="0">
              <a:buNone/>
            </a:pPr>
            <a:r>
              <a:rPr lang="en-US" sz="1100" dirty="0">
                <a:solidFill>
                  <a:schemeClr val="accent4"/>
                </a:solidFill>
              </a:rPr>
              <a:t>runs its tests and fixes failures</a:t>
            </a:r>
            <a:endParaRPr lang="en-US" sz="1300" dirty="0"/>
          </a:p>
        </p:txBody>
      </p:sp>
      <p:sp>
        <p:nvSpPr>
          <p:cNvPr id="36" name="cond_circle_2"/>
          <p:cNvSpPr/>
          <p:nvPr/>
        </p:nvSpPr>
        <p:spPr>
          <a:xfrm>
            <a:off x="4572000" y="2459736"/>
            <a:ext cx="365760" cy="365760"/>
          </a:xfrm>
          <a:prstGeom prst="ellipse">
            <a:avLst/>
          </a:prstGeom>
          <a:solidFill>
            <a:schemeClr val="tx1"/>
          </a:solidFill>
          <a:ln/>
        </p:spPr>
      </p:sp>
      <p:pic>
        <p:nvPicPr>
          <p:cNvPr id="37" name="cond_icon_2" descr="preencoded.png">    </p:cNvPr>
          <p:cNvPicPr>
            <a:picLocks noChangeAspect="1"/>
          </p:cNvPicPr>
          <p:nvPr/>
        </p:nvPicPr>
        <p:blipFill>
          <a:blip r:embed="rId3"/>
          <a:stretch>
            <a:fillRect/>
          </a:stretch>
        </p:blipFill>
        <p:spPr>
          <a:xfrm>
            <a:off x="4654296" y="2542032"/>
            <a:ext cx="201168" cy="201168"/>
          </a:xfrm>
          <a:prstGeom prst="rect">
            <a:avLst/>
          </a:prstGeom>
        </p:spPr>
      </p:pic>
      <p:sp>
        <p:nvSpPr>
          <p:cNvPr id="38" name="cond_text_2"/>
          <p:cNvSpPr txBox="1"/>
          <p:nvPr/>
        </p:nvSpPr>
        <p:spPr>
          <a:xfrm>
            <a:off x="5074920" y="2414016"/>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One shot Sonnet</a:t>
            </a:r>
            <a:endParaRPr lang="en-US" sz="1300" dirty="0"/>
          </a:p>
          <a:p>
            <a:pPr indent="0" marL="0">
              <a:buNone/>
            </a:pPr>
            <a:r>
              <a:rPr lang="en-US" sz="1100" dirty="0">
                <a:solidFill>
                  <a:schemeClr val="accent4"/>
                </a:solidFill>
              </a:rPr>
              <a:t>writes tests, never runs them</a:t>
            </a:r>
            <a:endParaRPr lang="en-US" sz="1300" dirty="0"/>
          </a:p>
        </p:txBody>
      </p:sp>
      <p:sp>
        <p:nvSpPr>
          <p:cNvPr id="39" name="cond_circle_3"/>
          <p:cNvSpPr/>
          <p:nvPr/>
        </p:nvSpPr>
        <p:spPr>
          <a:xfrm>
            <a:off x="4572000" y="2935224"/>
            <a:ext cx="365760" cy="365760"/>
          </a:xfrm>
          <a:prstGeom prst="ellipse">
            <a:avLst/>
          </a:prstGeom>
          <a:solidFill>
            <a:schemeClr val="tx1"/>
          </a:solidFill>
          <a:ln/>
        </p:spPr>
      </p:sp>
      <p:pic>
        <p:nvPicPr>
          <p:cNvPr id="40" name="cond_icon_3" descr="preencoded.png">    </p:cNvPr>
          <p:cNvPicPr>
            <a:picLocks noChangeAspect="1"/>
          </p:cNvPicPr>
          <p:nvPr/>
        </p:nvPicPr>
        <p:blipFill>
          <a:blip r:embed="rId4"/>
          <a:stretch>
            <a:fillRect/>
          </a:stretch>
        </p:blipFill>
        <p:spPr>
          <a:xfrm>
            <a:off x="4654296" y="3017520"/>
            <a:ext cx="201168" cy="201168"/>
          </a:xfrm>
          <a:prstGeom prst="rect">
            <a:avLst/>
          </a:prstGeom>
        </p:spPr>
      </p:pic>
      <p:sp>
        <p:nvSpPr>
          <p:cNvPr id="41" name="cond_text_3"/>
          <p:cNvSpPr txBox="1"/>
          <p:nvPr/>
        </p:nvSpPr>
        <p:spPr>
          <a:xfrm>
            <a:off x="5074920" y="2889504"/>
            <a:ext cx="3611880" cy="457200"/>
          </a:xfrm>
          <a:prstGeom prst="rect">
            <a:avLst/>
          </a:prstGeom>
          <a:noFill/>
          <a:ln/>
        </p:spPr>
        <p:txBody>
          <a:bodyPr wrap="square" lIns="0" tIns="0" rIns="0" bIns="0" rtlCol="0" anchor="ctr"/>
          <a:lstStyle/>
          <a:p>
            <a:pPr indent="0" marL="0">
              <a:buNone/>
            </a:pPr>
            <a:r>
              <a:rPr lang="en-US" sz="1300" b="1" dirty="0">
                <a:solidFill>
                  <a:schemeClr val="tx1"/>
                </a:solidFill>
              </a:rPr>
              <a:t>One shot Haiku</a:t>
            </a:r>
            <a:endParaRPr lang="en-US" sz="1300" dirty="0"/>
          </a:p>
          <a:p>
            <a:pPr indent="0" marL="0">
              <a:buNone/>
            </a:pPr>
            <a:r>
              <a:rPr lang="en-US" sz="1100" dirty="0">
                <a:solidFill>
                  <a:schemeClr val="accent4"/>
                </a:solidFill>
              </a:rPr>
              <a:t>same, with a smaller model</a:t>
            </a:r>
            <a:endParaRPr lang="en-US" sz="1300" dirty="0"/>
          </a:p>
        </p:txBody>
      </p:sp>
      <p:sp>
        <p:nvSpPr>
          <p:cNvPr id="42" name="perturb_box"/>
          <p:cNvSpPr/>
          <p:nvPr/>
        </p:nvSpPr>
        <p:spPr>
          <a:xfrm>
            <a:off x="4572000" y="3520440"/>
            <a:ext cx="4114800" cy="868680"/>
          </a:xfrm>
          <a:prstGeom prst="roundRect">
            <a:avLst>
              <a:gd name="adj" fmla="val 10526"/>
            </a:avLst>
          </a:prstGeom>
          <a:solidFill>
            <a:schemeClr val="bg2"/>
          </a:solidFill>
          <a:ln/>
        </p:spPr>
      </p:sp>
      <p:sp>
        <p:nvSpPr>
          <p:cNvPr id="43" name="perturb_header"/>
          <p:cNvSpPr txBox="1"/>
          <p:nvPr/>
        </p:nvSpPr>
        <p:spPr>
          <a:xfrm>
            <a:off x="4709160" y="3584448"/>
            <a:ext cx="3840480" cy="274320"/>
          </a:xfrm>
          <a:prstGeom prst="rect">
            <a:avLst/>
          </a:prstGeom>
          <a:noFill/>
          <a:ln/>
        </p:spPr>
        <p:txBody>
          <a:bodyPr wrap="square" lIns="0" tIns="0" rIns="0" bIns="0" rtlCol="0" anchor="ctr"/>
          <a:lstStyle/>
          <a:p>
            <a:pPr indent="0" marL="0">
              <a:buNone/>
            </a:pPr>
            <a:r>
              <a:rPr lang="en-US" sz="1200" b="1" dirty="0">
                <a:solidFill>
                  <a:schemeClr val="tx1"/>
                </a:solidFill>
              </a:rPr>
              <a:t>Every suite reruns 70 times with</a:t>
            </a:r>
            <a:endParaRPr lang="en-US" sz="1200" dirty="0"/>
          </a:p>
        </p:txBody>
      </p:sp>
      <p:pic>
        <p:nvPicPr>
          <p:cNvPr id="44" name="pert_icon_0" descr="preencoded.png">    </p:cNvPr>
          <p:cNvPicPr>
            <a:picLocks noChangeAspect="1"/>
          </p:cNvPicPr>
          <p:nvPr/>
        </p:nvPicPr>
        <p:blipFill>
          <a:blip r:embed="rId5"/>
          <a:stretch>
            <a:fillRect/>
          </a:stretch>
        </p:blipFill>
        <p:spPr>
          <a:xfrm>
            <a:off x="4709160" y="3931920"/>
            <a:ext cx="256032" cy="256032"/>
          </a:xfrm>
          <a:prstGeom prst="rect">
            <a:avLst/>
          </a:prstGeom>
        </p:spPr>
      </p:pic>
      <p:sp>
        <p:nvSpPr>
          <p:cNvPr id="45" name="pert_text_0"/>
          <p:cNvSpPr txBox="1"/>
          <p:nvPr/>
        </p:nvSpPr>
        <p:spPr>
          <a:xfrm>
            <a:off x="502005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random order and hash seed</a:t>
            </a:r>
            <a:endParaRPr lang="en-US" sz="1000" dirty="0"/>
          </a:p>
        </p:txBody>
      </p:sp>
      <p:pic>
        <p:nvPicPr>
          <p:cNvPr id="46" name="pert_icon_1" descr="preencoded.png">    </p:cNvPr>
          <p:cNvPicPr>
            <a:picLocks noChangeAspect="1"/>
          </p:cNvPicPr>
          <p:nvPr/>
        </p:nvPicPr>
        <p:blipFill>
          <a:blip r:embed="rId6"/>
          <a:stretch>
            <a:fillRect/>
          </a:stretch>
        </p:blipFill>
        <p:spPr>
          <a:xfrm>
            <a:off x="6035040" y="3931920"/>
            <a:ext cx="256032" cy="256032"/>
          </a:xfrm>
          <a:prstGeom prst="rect">
            <a:avLst/>
          </a:prstGeom>
        </p:spPr>
      </p:pic>
      <p:sp>
        <p:nvSpPr>
          <p:cNvPr id="47" name="pert_text_1"/>
          <p:cNvSpPr txBox="1"/>
          <p:nvPr/>
        </p:nvSpPr>
        <p:spPr>
          <a:xfrm>
            <a:off x="634593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10 time zones</a:t>
            </a:r>
            <a:endParaRPr lang="en-US" sz="1000" dirty="0"/>
          </a:p>
        </p:txBody>
      </p:sp>
      <p:pic>
        <p:nvPicPr>
          <p:cNvPr id="48" name="pert_icon_2" descr="preencoded.png">    </p:cNvPr>
          <p:cNvPicPr>
            <a:picLocks noChangeAspect="1"/>
          </p:cNvPicPr>
          <p:nvPr/>
        </p:nvPicPr>
        <p:blipFill>
          <a:blip r:embed="rId7"/>
          <a:stretch>
            <a:fillRect/>
          </a:stretch>
        </p:blipFill>
        <p:spPr>
          <a:xfrm>
            <a:off x="7360920" y="3931920"/>
            <a:ext cx="256032" cy="256032"/>
          </a:xfrm>
          <a:prstGeom prst="rect">
            <a:avLst/>
          </a:prstGeom>
        </p:spPr>
      </p:pic>
      <p:sp>
        <p:nvSpPr>
          <p:cNvPr id="49" name="pert_text_2"/>
          <p:cNvSpPr txBox="1"/>
          <p:nvPr/>
        </p:nvSpPr>
        <p:spPr>
          <a:xfrm>
            <a:off x="7671816" y="3858768"/>
            <a:ext cx="987552" cy="621792"/>
          </a:xfrm>
          <a:prstGeom prst="rect">
            <a:avLst/>
          </a:prstGeom>
          <a:noFill/>
          <a:ln/>
        </p:spPr>
        <p:txBody>
          <a:bodyPr wrap="square" lIns="0" tIns="0" rIns="0" bIns="0" rtlCol="0" anchor="t"/>
          <a:lstStyle/>
          <a:p>
            <a:pPr indent="0" marL="0">
              <a:buNone/>
            </a:pPr>
            <a:r>
              <a:rPr lang="en-US" sz="1000" dirty="0">
                <a:solidFill>
                  <a:schemeClr val="tx1"/>
                </a:solidFill>
              </a:rPr>
              <a:t>CPU stress on every core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rPr>
              <a:t>Early results</a:t>
            </a:r>
            <a:endParaRPr lang="en-US" sz="3000" dirty="0"/>
          </a:p>
        </p:txBody>
      </p:sp>
      <p:sp>
        <p:nvSpPr>
          <p:cNvPr id="3" name="stat_num_0"/>
          <p:cNvSpPr txBox="1"/>
          <p:nvPr/>
        </p:nvSpPr>
        <p:spPr>
          <a:xfrm>
            <a:off x="457200" y="1051560"/>
            <a:ext cx="3108960" cy="594360"/>
          </a:xfrm>
          <a:prstGeom prst="rect">
            <a:avLst/>
          </a:prstGeom>
          <a:noFill/>
          <a:ln/>
        </p:spPr>
        <p:txBody>
          <a:bodyPr wrap="square" lIns="0" tIns="0" rIns="0" bIns="0" rtlCol="0" anchor="b"/>
          <a:lstStyle/>
          <a:p>
            <a:pPr indent="0" marL="0">
              <a:buNone/>
            </a:pPr>
            <a:r>
              <a:rPr lang="en-US" sz="3800" b="1" dirty="0">
                <a:solidFill>
                  <a:schemeClr val="tx1"/>
                </a:solidFill>
                <a:latin typeface="Cambria" pitchFamily="34" charset="0"/>
                <a:ea typeface="Cambria" pitchFamily="34" charset="-122"/>
                <a:cs typeface="Cambria" pitchFamily="34" charset="-120"/>
              </a:rPr>
              <a:t>714,000</a:t>
            </a:r>
            <a:endParaRPr lang="en-US" sz="3800" dirty="0"/>
          </a:p>
        </p:txBody>
      </p:sp>
      <p:sp>
        <p:nvSpPr>
          <p:cNvPr id="4" name="stat_label_0"/>
          <p:cNvSpPr txBox="1"/>
          <p:nvPr/>
        </p:nvSpPr>
        <p:spPr>
          <a:xfrm>
            <a:off x="457200" y="1673352"/>
            <a:ext cx="3108960" cy="502920"/>
          </a:xfrm>
          <a:prstGeom prst="rect">
            <a:avLst/>
          </a:prstGeom>
          <a:noFill/>
          <a:ln/>
        </p:spPr>
        <p:txBody>
          <a:bodyPr wrap="square" lIns="0" tIns="0" rIns="0" bIns="0" rtlCol="0" anchor="t"/>
          <a:lstStyle/>
          <a:p>
            <a:pPr indent="0" marL="0">
              <a:buNone/>
            </a:pPr>
            <a:r>
              <a:rPr lang="en-US" sz="1200" dirty="0">
                <a:solidFill>
                  <a:schemeClr val="accent4"/>
                </a:solidFill>
              </a:rPr>
              <a:t>test executions across 48 suites</a:t>
            </a:r>
            <a:endParaRPr lang="en-US" sz="1200" dirty="0"/>
          </a:p>
        </p:txBody>
      </p:sp>
      <p:sp>
        <p:nvSpPr>
          <p:cNvPr id="5" name="stat_num_1"/>
          <p:cNvSpPr txBox="1"/>
          <p:nvPr/>
        </p:nvSpPr>
        <p:spPr>
          <a:xfrm>
            <a:off x="457200" y="2240280"/>
            <a:ext cx="3108960" cy="594360"/>
          </a:xfrm>
          <a:prstGeom prst="rect">
            <a:avLst/>
          </a:prstGeom>
          <a:noFill/>
          <a:ln/>
        </p:spPr>
        <p:txBody>
          <a:bodyPr wrap="square" lIns="0" tIns="0" rIns="0" bIns="0" rtlCol="0" anchor="b"/>
          <a:lstStyle/>
          <a:p>
            <a:pPr indent="0" marL="0">
              <a:buNone/>
            </a:pPr>
            <a:r>
              <a:rPr lang="en-US" sz="3800" b="1" dirty="0">
                <a:solidFill>
                  <a:schemeClr val="accent1"/>
                </a:solidFill>
                <a:latin typeface="Cambria" pitchFamily="34" charset="0"/>
                <a:ea typeface="Cambria" pitchFamily="34" charset="-122"/>
                <a:cs typeface="Cambria" pitchFamily="34" charset="-120"/>
              </a:rPr>
              <a:t>3</a:t>
            </a:r>
            <a:endParaRPr lang="en-US" sz="3800" dirty="0"/>
          </a:p>
        </p:txBody>
      </p:sp>
      <p:sp>
        <p:nvSpPr>
          <p:cNvPr id="6" name="stat_label_1"/>
          <p:cNvSpPr txBox="1"/>
          <p:nvPr/>
        </p:nvSpPr>
        <p:spPr>
          <a:xfrm>
            <a:off x="457200" y="2862072"/>
            <a:ext cx="3108960" cy="502920"/>
          </a:xfrm>
          <a:prstGeom prst="rect">
            <a:avLst/>
          </a:prstGeom>
          <a:noFill/>
          <a:ln/>
        </p:spPr>
        <p:txBody>
          <a:bodyPr wrap="square" lIns="0" tIns="0" rIns="0" bIns="0" rtlCol="0" anchor="t"/>
          <a:lstStyle/>
          <a:p>
            <a:pPr indent="0" marL="0">
              <a:buNone/>
            </a:pPr>
            <a:r>
              <a:rPr lang="en-US" sz="1200" dirty="0">
                <a:solidFill>
                  <a:schemeClr val="accent4"/>
                </a:solidFill>
              </a:rPr>
              <a:t>LLM tests flipped, all about real time, and a one run filter kept all of them</a:t>
            </a:r>
            <a:endParaRPr lang="en-US" sz="1200" dirty="0"/>
          </a:p>
        </p:txBody>
      </p:sp>
      <p:sp>
        <p:nvSpPr>
          <p:cNvPr id="7" name="stat_num_2"/>
          <p:cNvSpPr txBox="1"/>
          <p:nvPr/>
        </p:nvSpPr>
        <p:spPr>
          <a:xfrm>
            <a:off x="457200" y="3429000"/>
            <a:ext cx="3108960" cy="594360"/>
          </a:xfrm>
          <a:prstGeom prst="rect">
            <a:avLst/>
          </a:prstGeom>
          <a:noFill/>
          <a:ln/>
        </p:spPr>
        <p:txBody>
          <a:bodyPr wrap="square" lIns="0" tIns="0" rIns="0" bIns="0" rtlCol="0" anchor="b"/>
          <a:lstStyle/>
          <a:p>
            <a:pPr indent="0" marL="0">
              <a:buNone/>
            </a:pPr>
            <a:r>
              <a:rPr lang="en-US" sz="3800" b="1" dirty="0">
                <a:solidFill>
                  <a:schemeClr val="accent2"/>
                </a:solidFill>
                <a:latin typeface="Cambria" pitchFamily="34" charset="0"/>
                <a:ea typeface="Cambria" pitchFamily="34" charset="-122"/>
                <a:cs typeface="Cambria" pitchFamily="34" charset="-120"/>
              </a:rPr>
              <a:t>6</a:t>
            </a:r>
            <a:endParaRPr lang="en-US" sz="3800" dirty="0"/>
          </a:p>
        </p:txBody>
      </p:sp>
      <p:sp>
        <p:nvSpPr>
          <p:cNvPr id="8" name="stat_label_2"/>
          <p:cNvSpPr txBox="1"/>
          <p:nvPr/>
        </p:nvSpPr>
        <p:spPr>
          <a:xfrm>
            <a:off x="457200" y="4050792"/>
            <a:ext cx="3108960" cy="502920"/>
          </a:xfrm>
          <a:prstGeom prst="rect">
            <a:avLst/>
          </a:prstGeom>
          <a:noFill/>
          <a:ln/>
        </p:spPr>
        <p:txBody>
          <a:bodyPr wrap="square" lIns="0" tIns="0" rIns="0" bIns="0" rtlCol="0" anchor="t"/>
          <a:lstStyle/>
          <a:p>
            <a:pPr indent="0" marL="0">
              <a:buNone/>
            </a:pPr>
            <a:r>
              <a:rPr lang="en-US" sz="1200" dirty="0">
                <a:solidFill>
                  <a:schemeClr val="accent4"/>
                </a:solidFill>
              </a:rPr>
              <a:t>human tests flipped, mostly because of test order</a:t>
            </a:r>
            <a:endParaRPr lang="en-US" sz="1200" dirty="0"/>
          </a:p>
        </p:txBody>
      </p:sp>
      <p:graphicFrame>
        <p:nvGraphicFramePr>
          <p:cNvPr id="9" name="smell_chart" descr=""/>
          <p:cNvGraphicFramePr/>
          <p:nvPr/>
        </p:nvGraphicFramePr>
        <p:xfrm>
          <a:off x="3749040" y="1051560"/>
          <a:ext cx="4937760" cy="3520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Next steps and open questions</a:t>
            </a:r>
            <a:endParaRPr lang="en-US" sz="3000" dirty="0"/>
          </a:p>
        </p:txBody>
      </p:sp>
      <p:sp>
        <p:nvSpPr>
          <p:cNvPr id="3" name="plan_card_0"/>
          <p:cNvSpPr/>
          <p:nvPr/>
        </p:nvSpPr>
        <p:spPr>
          <a:xfrm>
            <a:off x="457200" y="1143000"/>
            <a:ext cx="2615184" cy="3108960"/>
          </a:xfrm>
          <a:prstGeom prst="roundRect">
            <a:avLst>
              <a:gd name="adj" fmla="val 4196"/>
            </a:avLst>
          </a:prstGeom>
          <a:solidFill>
            <a:schemeClr val="tx2"/>
          </a:solidFill>
          <a:ln/>
        </p:spPr>
      </p:sp>
      <p:sp>
        <p:nvSpPr>
          <p:cNvPr id="4" name="plan_circle_0"/>
          <p:cNvSpPr/>
          <p:nvPr/>
        </p:nvSpPr>
        <p:spPr>
          <a:xfrm>
            <a:off x="658368" y="1325880"/>
            <a:ext cx="411480" cy="411480"/>
          </a:xfrm>
          <a:prstGeom prst="ellipse">
            <a:avLst/>
          </a:prstGeom>
          <a:solidFill>
            <a:schemeClr val="accent1"/>
          </a:solidFill>
          <a:ln/>
        </p:spPr>
      </p:sp>
      <p:pic>
        <p:nvPicPr>
          <p:cNvPr id="5" name="plan_icon_0" descr="preencoded.png">    </p:cNvPr>
          <p:cNvPicPr>
            <a:picLocks noChangeAspect="1"/>
          </p:cNvPicPr>
          <p:nvPr/>
        </p:nvPicPr>
        <p:blipFill>
          <a:blip r:embed="rId1"/>
          <a:stretch>
            <a:fillRect/>
          </a:stretch>
        </p:blipFill>
        <p:spPr>
          <a:xfrm>
            <a:off x="758952" y="1426464"/>
            <a:ext cx="210312" cy="210312"/>
          </a:xfrm>
          <a:prstGeom prst="rect">
            <a:avLst/>
          </a:prstGeom>
        </p:spPr>
      </p:pic>
      <p:sp>
        <p:nvSpPr>
          <p:cNvPr id="6" name="plan_head_0"/>
          <p:cNvSpPr txBox="1"/>
          <p:nvPr/>
        </p:nvSpPr>
        <p:spPr>
          <a:xfrm>
            <a:off x="658368"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How I will evaluate</a:t>
            </a:r>
            <a:endParaRPr lang="en-US" sz="1500" dirty="0"/>
          </a:p>
        </p:txBody>
      </p:sp>
      <p:sp>
        <p:nvSpPr>
          <p:cNvPr id="7" name="plan_body_0"/>
          <p:cNvSpPr txBox="1"/>
          <p:nvPr/>
        </p:nvSpPr>
        <p:spPr>
          <a:xfrm>
            <a:off x="658368"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Flaky rate per suite with confidence intervals</a:t>
            </a:r>
            <a:endParaRPr lang="en-US" sz="1200" dirty="0"/>
          </a:p>
          <a:p>
            <a:pPr marL="342900" indent="-342900">
              <a:spcAft>
                <a:spcPts val="600"/>
              </a:spcAft>
              <a:buSzPct val="100000"/>
              <a:buChar char="•"/>
            </a:pPr>
            <a:r>
              <a:rPr lang="en-US" sz="1200" dirty="0">
                <a:solidFill>
                  <a:schemeClr val="bg2"/>
                </a:solidFill>
              </a:rPr>
              <a:t>Root cause of every flaky test</a:t>
            </a:r>
            <a:endParaRPr lang="en-US" sz="1200" dirty="0"/>
          </a:p>
          <a:p>
            <a:pPr marL="342900" indent="-342900">
              <a:spcAft>
                <a:spcPts val="600"/>
              </a:spcAft>
              <a:buSzPct val="100000"/>
              <a:buChar char="•"/>
            </a:pPr>
            <a:r>
              <a:rPr lang="en-US" sz="1200" dirty="0">
                <a:solidFill>
                  <a:schemeClr val="bg2"/>
                </a:solidFill>
              </a:rPr>
              <a:t>Risk patterns and coverage per suite</a:t>
            </a:r>
            <a:endParaRPr lang="en-US" sz="1200" dirty="0"/>
          </a:p>
          <a:p>
            <a:pPr marL="342900" indent="-342900">
              <a:spcAft>
                <a:spcPts val="600"/>
              </a:spcAft>
              <a:buSzPct val="100000"/>
              <a:buChar char="•"/>
            </a:pPr>
            <a:r>
              <a:rPr lang="en-US" sz="1200" dirty="0">
                <a:solidFill>
                  <a:schemeClr val="bg2"/>
                </a:solidFill>
              </a:rPr>
              <a:t>What a one run filter keeps and throws away</a:t>
            </a:r>
            <a:endParaRPr lang="en-US" sz="1200" dirty="0"/>
          </a:p>
        </p:txBody>
      </p:sp>
      <p:sp>
        <p:nvSpPr>
          <p:cNvPr id="8" name="plan_card_1"/>
          <p:cNvSpPr/>
          <p:nvPr/>
        </p:nvSpPr>
        <p:spPr>
          <a:xfrm>
            <a:off x="3273552" y="1143000"/>
            <a:ext cx="2615184" cy="3108960"/>
          </a:xfrm>
          <a:prstGeom prst="roundRect">
            <a:avLst>
              <a:gd name="adj" fmla="val 4196"/>
            </a:avLst>
          </a:prstGeom>
          <a:solidFill>
            <a:schemeClr val="tx2"/>
          </a:solidFill>
          <a:ln/>
        </p:spPr>
      </p:sp>
      <p:sp>
        <p:nvSpPr>
          <p:cNvPr id="9" name="plan_circle_1"/>
          <p:cNvSpPr/>
          <p:nvPr/>
        </p:nvSpPr>
        <p:spPr>
          <a:xfrm>
            <a:off x="3474720" y="1325880"/>
            <a:ext cx="411480" cy="411480"/>
          </a:xfrm>
          <a:prstGeom prst="ellipse">
            <a:avLst/>
          </a:prstGeom>
          <a:solidFill>
            <a:schemeClr val="accent1"/>
          </a:solidFill>
          <a:ln/>
        </p:spPr>
      </p:sp>
      <p:pic>
        <p:nvPicPr>
          <p:cNvPr id="10" name="plan_icon_1" descr="preencoded.png">    </p:cNvPr>
          <p:cNvPicPr>
            <a:picLocks noChangeAspect="1"/>
          </p:cNvPicPr>
          <p:nvPr/>
        </p:nvPicPr>
        <p:blipFill>
          <a:blip r:embed="rId2"/>
          <a:stretch>
            <a:fillRect/>
          </a:stretch>
        </p:blipFill>
        <p:spPr>
          <a:xfrm>
            <a:off x="3575304" y="1426464"/>
            <a:ext cx="210312" cy="210312"/>
          </a:xfrm>
          <a:prstGeom prst="rect">
            <a:avLst/>
          </a:prstGeom>
        </p:spPr>
      </p:pic>
      <p:sp>
        <p:nvSpPr>
          <p:cNvPr id="11" name="plan_head_1"/>
          <p:cNvSpPr txBox="1"/>
          <p:nvPr/>
        </p:nvSpPr>
        <p:spPr>
          <a:xfrm>
            <a:off x="3474720"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Timeline</a:t>
            </a:r>
            <a:endParaRPr lang="en-US" sz="1500" dirty="0"/>
          </a:p>
        </p:txBody>
      </p:sp>
      <p:sp>
        <p:nvSpPr>
          <p:cNvPr id="12" name="plan_body_1"/>
          <p:cNvSpPr txBox="1"/>
          <p:nvPr/>
        </p:nvSpPr>
        <p:spPr>
          <a:xfrm>
            <a:off x="3474720"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Oct 9 proposal</a:t>
            </a:r>
            <a:endParaRPr lang="en-US" sz="1200" dirty="0"/>
          </a:p>
          <a:p>
            <a:pPr marL="342900" indent="-342900">
              <a:spcAft>
                <a:spcPts val="600"/>
              </a:spcAft>
              <a:buSzPct val="100000"/>
              <a:buChar char="•"/>
            </a:pPr>
            <a:r>
              <a:rPr lang="en-US" sz="1200" dirty="0">
                <a:solidFill>
                  <a:schemeClr val="bg2"/>
                </a:solidFill>
              </a:rPr>
              <a:t>Oct 24 more models and reruns</a:t>
            </a:r>
            <a:endParaRPr lang="en-US" sz="1200" dirty="0"/>
          </a:p>
          <a:p>
            <a:pPr marL="342900" indent="-342900">
              <a:spcAft>
                <a:spcPts val="600"/>
              </a:spcAft>
              <a:buSzPct val="100000"/>
              <a:buChar char="•"/>
            </a:pPr>
            <a:r>
              <a:rPr lang="en-US" sz="1200" dirty="0">
                <a:solidFill>
                  <a:schemeClr val="bg2"/>
                </a:solidFill>
              </a:rPr>
              <a:t>Nov 7 slower CI machine runs</a:t>
            </a:r>
            <a:endParaRPr lang="en-US" sz="1200" dirty="0"/>
          </a:p>
          <a:p>
            <a:pPr marL="342900" indent="-342900">
              <a:spcAft>
                <a:spcPts val="600"/>
              </a:spcAft>
              <a:buSzPct val="100000"/>
              <a:buChar char="•"/>
            </a:pPr>
            <a:r>
              <a:rPr lang="en-US" sz="1200" dirty="0">
                <a:solidFill>
                  <a:schemeClr val="bg2"/>
                </a:solidFill>
              </a:rPr>
              <a:t>Nov 21 mitigation prompt</a:t>
            </a:r>
            <a:endParaRPr lang="en-US" sz="1200" dirty="0"/>
          </a:p>
          <a:p>
            <a:pPr marL="342900" indent="-342900">
              <a:spcAft>
                <a:spcPts val="600"/>
              </a:spcAft>
              <a:buSzPct val="100000"/>
              <a:buChar char="•"/>
            </a:pPr>
            <a:r>
              <a:rPr lang="en-US" sz="1200" dirty="0">
                <a:solidFill>
                  <a:schemeClr val="bg2"/>
                </a:solidFill>
              </a:rPr>
              <a:t>Dec 12 final report</a:t>
            </a:r>
            <a:endParaRPr lang="en-US" sz="1200" dirty="0"/>
          </a:p>
        </p:txBody>
      </p:sp>
      <p:sp>
        <p:nvSpPr>
          <p:cNvPr id="13" name="plan_card_2"/>
          <p:cNvSpPr/>
          <p:nvPr/>
        </p:nvSpPr>
        <p:spPr>
          <a:xfrm>
            <a:off x="6089904" y="1143000"/>
            <a:ext cx="2615184" cy="3108960"/>
          </a:xfrm>
          <a:prstGeom prst="roundRect">
            <a:avLst>
              <a:gd name="adj" fmla="val 4196"/>
            </a:avLst>
          </a:prstGeom>
          <a:solidFill>
            <a:schemeClr val="tx2"/>
          </a:solidFill>
          <a:ln/>
        </p:spPr>
      </p:sp>
      <p:sp>
        <p:nvSpPr>
          <p:cNvPr id="14" name="plan_circle_2"/>
          <p:cNvSpPr/>
          <p:nvPr/>
        </p:nvSpPr>
        <p:spPr>
          <a:xfrm>
            <a:off x="6291072" y="1325880"/>
            <a:ext cx="411480" cy="411480"/>
          </a:xfrm>
          <a:prstGeom prst="ellipse">
            <a:avLst/>
          </a:prstGeom>
          <a:solidFill>
            <a:schemeClr val="accent1"/>
          </a:solidFill>
          <a:ln/>
        </p:spPr>
      </p:sp>
      <p:pic>
        <p:nvPicPr>
          <p:cNvPr id="15" name="plan_icon_2" descr="preencoded.png">    </p:cNvPr>
          <p:cNvPicPr>
            <a:picLocks noChangeAspect="1"/>
          </p:cNvPicPr>
          <p:nvPr/>
        </p:nvPicPr>
        <p:blipFill>
          <a:blip r:embed="rId3"/>
          <a:stretch>
            <a:fillRect/>
          </a:stretch>
        </p:blipFill>
        <p:spPr>
          <a:xfrm>
            <a:off x="6391656" y="1426464"/>
            <a:ext cx="210312" cy="210312"/>
          </a:xfrm>
          <a:prstGeom prst="rect">
            <a:avLst/>
          </a:prstGeom>
        </p:spPr>
      </p:pic>
      <p:sp>
        <p:nvSpPr>
          <p:cNvPr id="16" name="plan_head_2"/>
          <p:cNvSpPr txBox="1"/>
          <p:nvPr/>
        </p:nvSpPr>
        <p:spPr>
          <a:xfrm>
            <a:off x="6291072" y="1828800"/>
            <a:ext cx="2240280" cy="365760"/>
          </a:xfrm>
          <a:prstGeom prst="rect">
            <a:avLst/>
          </a:prstGeom>
          <a:noFill/>
          <a:ln/>
        </p:spPr>
        <p:txBody>
          <a:bodyPr wrap="square" lIns="0" tIns="0" rIns="0" bIns="0" rtlCol="0" anchor="ctr"/>
          <a:lstStyle/>
          <a:p>
            <a:pPr indent="0" marL="0">
              <a:buNone/>
            </a:pPr>
            <a:r>
              <a:rPr lang="en-US" sz="1500" b="1" dirty="0">
                <a:solidFill>
                  <a:schemeClr val="bg1"/>
                </a:solidFill>
              </a:rPr>
              <a:t>What I am unsure about</a:t>
            </a:r>
            <a:endParaRPr lang="en-US" sz="1500" dirty="0"/>
          </a:p>
        </p:txBody>
      </p:sp>
      <p:sp>
        <p:nvSpPr>
          <p:cNvPr id="17" name="plan_body_2"/>
          <p:cNvSpPr txBox="1"/>
          <p:nvPr/>
        </p:nvSpPr>
        <p:spPr>
          <a:xfrm>
            <a:off x="6291072" y="2240280"/>
            <a:ext cx="2286000" cy="2240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bg2"/>
                </a:solidFill>
              </a:rPr>
              <a:t>Flips are rare, so do I need 1000 reruns</a:t>
            </a:r>
            <a:endParaRPr lang="en-US" sz="1200" dirty="0"/>
          </a:p>
          <a:p>
            <a:pPr marL="342900" indent="-342900">
              <a:spcAft>
                <a:spcPts val="600"/>
              </a:spcAft>
              <a:buSzPct val="100000"/>
              <a:buChar char="•"/>
            </a:pPr>
            <a:r>
              <a:rPr lang="en-US" sz="1200" dirty="0">
                <a:solidFill>
                  <a:schemeClr val="bg2"/>
                </a:solidFill>
              </a:rPr>
              <a:t>Do risk patterns predict real flips</a:t>
            </a:r>
            <a:endParaRPr lang="en-US" sz="1200" dirty="0"/>
          </a:p>
          <a:p>
            <a:pPr marL="342900" indent="-342900">
              <a:spcAft>
                <a:spcPts val="600"/>
              </a:spcAft>
              <a:buSzPct val="100000"/>
              <a:buChar char="•"/>
            </a:pPr>
            <a:r>
              <a:rPr lang="en-US" sz="1200" dirty="0">
                <a:solidFill>
                  <a:schemeClr val="bg2"/>
                </a:solidFill>
              </a:rPr>
              <a:t>Is a laptop too fast to show timing bugs</a:t>
            </a:r>
            <a:endParaRPr lang="en-US" sz="1200" dirty="0"/>
          </a:p>
          <a:p>
            <a:pPr marL="342900" indent="-342900">
              <a:spcAft>
                <a:spcPts val="600"/>
              </a:spcAft>
              <a:buSzPct val="100000"/>
              <a:buChar char="•"/>
            </a:pPr>
            <a:r>
              <a:rPr lang="en-US" sz="1200" dirty="0">
                <a:solidFill>
                  <a:schemeClr val="bg2"/>
                </a:solidFill>
              </a:rPr>
              <a:t>Ideas for other perturbations welcome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laky Signal">
  <a:themeElements>
    <a:clrScheme name="Flaky Signal">
      <a:dk1>
        <a:srgbClr val="1B2430"/>
      </a:dk1>
      <a:lt1>
        <a:srgbClr val="FFFFFF"/>
      </a:lt1>
      <a:dk2>
        <a:srgbClr val="2E3A4B"/>
      </a:dk2>
      <a:lt2>
        <a:srgbClr val="EEF1F4"/>
      </a:lt2>
      <a:accent1>
        <a:srgbClr val="E8A33D"/>
      </a:accent1>
      <a:accent2>
        <a:srgbClr val="2A9D8F"/>
      </a:accent2>
      <a:accent3>
        <a:srgbClr val="C8553D"/>
      </a:accent3>
      <a:accent4>
        <a:srgbClr val="6C7A89"/>
      </a:accent4>
      <a:accent5>
        <a:srgbClr val="8FB8DE"/>
      </a:accent5>
      <a:accent6>
        <a:srgbClr val="F4DDB0"/>
      </a:accent6>
      <a:hlink>
        <a:srgbClr val="2A9D8F"/>
      </a:hlink>
      <a:folHlink>
        <a:srgbClr val="6C7A89"/>
      </a:folHlink>
    </a:clrScheme>
    <a:fontScheme name="Flaky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Are LLM Written Unit Tests Flaky</dc:title>
  <dc:subject>PptxGenJS Presentation</dc:subject>
  <dc:creator>Shaunak Kapur</dc:creator>
  <cp:lastModifiedBy>Shaunak Kapur</cp:lastModifiedBy>
  <cp:revision>1</cp:revision>
  <dcterms:created xsi:type="dcterms:W3CDTF">2026-10-02T02:27:59Z</dcterms:created>
  <dcterms:modified xsi:type="dcterms:W3CDTF">2026-10-02T02:27:59Z</dcterms:modified>
</cp:coreProperties>
</file>